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chart6.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5" r:id="rId1"/>
  </p:sldMasterIdLst>
  <p:notesMasterIdLst>
    <p:notesMasterId r:id="rId15"/>
  </p:notesMasterIdLst>
  <p:sldIdLst>
    <p:sldId id="256" r:id="rId2"/>
    <p:sldId id="273" r:id="rId3"/>
    <p:sldId id="260" r:id="rId4"/>
    <p:sldId id="261" r:id="rId5"/>
    <p:sldId id="266" r:id="rId6"/>
    <p:sldId id="271" r:id="rId7"/>
    <p:sldId id="270" r:id="rId8"/>
    <p:sldId id="272" r:id="rId9"/>
    <p:sldId id="276" r:id="rId10"/>
    <p:sldId id="275" r:id="rId11"/>
    <p:sldId id="263" r:id="rId12"/>
    <p:sldId id="265"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43" autoAdjust="0"/>
    <p:restoredTop sz="94660"/>
  </p:normalViewPr>
  <p:slideViewPr>
    <p:cSldViewPr snapToGrid="0">
      <p:cViewPr varScale="1">
        <p:scale>
          <a:sx n="78" d="100"/>
          <a:sy n="78" d="100"/>
        </p:scale>
        <p:origin x="88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Silomo_USB%20Files\Learning%20Material\ALX_Learning%20Courses\Data%20Analytics%20Course\Data%20Analytics%20Course_Preparing%20Data\Section%201_Introduction%20to%20Data%20Analytics\Integrated%20Project_Understanding%20The%20Data\Estimates%20of%20the%20use%20of%20water%20(2000-2020).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ZA"/>
              <a:t>National Population per Region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1"/>
        <c:ser>
          <c:idx val="0"/>
          <c:order val="0"/>
          <c:tx>
            <c:strRef>
              <c:f>'Estimates of the use of water ('!$BB$1</c:f>
              <c:strCache>
                <c:ptCount val="1"/>
                <c:pt idx="0">
                  <c:v>population_n_region</c:v>
                </c:pt>
              </c:strCache>
            </c:strRef>
          </c:tx>
          <c:invertIfNegative val="1"/>
          <c:dPt>
            <c:idx val="0"/>
            <c:invertIfNegative val="1"/>
            <c:bubble3D val="0"/>
            <c:spPr>
              <a:solidFill>
                <a:schemeClr val="accent1"/>
              </a:solidFill>
              <a:ln>
                <a:noFill/>
              </a:ln>
              <a:effectLst/>
            </c:spPr>
            <c:extLst>
              <c:ext xmlns:c16="http://schemas.microsoft.com/office/drawing/2014/chart" uri="{C3380CC4-5D6E-409C-BE32-E72D297353CC}">
                <c16:uniqueId val="{00000001-DBB2-4B0A-BF2D-8F08F6758943}"/>
              </c:ext>
            </c:extLst>
          </c:dPt>
          <c:dPt>
            <c:idx val="1"/>
            <c:invertIfNegative val="1"/>
            <c:bubble3D val="0"/>
            <c:spPr>
              <a:solidFill>
                <a:schemeClr val="accent2"/>
              </a:solidFill>
              <a:ln>
                <a:noFill/>
              </a:ln>
              <a:effectLst/>
            </c:spPr>
            <c:extLst>
              <c:ext xmlns:c16="http://schemas.microsoft.com/office/drawing/2014/chart" uri="{C3380CC4-5D6E-409C-BE32-E72D297353CC}">
                <c16:uniqueId val="{00000003-DBB2-4B0A-BF2D-8F08F6758943}"/>
              </c:ext>
            </c:extLst>
          </c:dPt>
          <c:dPt>
            <c:idx val="2"/>
            <c:invertIfNegative val="1"/>
            <c:bubble3D val="0"/>
            <c:spPr>
              <a:solidFill>
                <a:schemeClr val="accent3"/>
              </a:solidFill>
              <a:ln>
                <a:noFill/>
              </a:ln>
              <a:effectLst/>
            </c:spPr>
            <c:extLst>
              <c:ext xmlns:c16="http://schemas.microsoft.com/office/drawing/2014/chart" uri="{C3380CC4-5D6E-409C-BE32-E72D297353CC}">
                <c16:uniqueId val="{00000005-DBB2-4B0A-BF2D-8F08F6758943}"/>
              </c:ext>
            </c:extLst>
          </c:dPt>
          <c:dPt>
            <c:idx val="3"/>
            <c:invertIfNegative val="1"/>
            <c:bubble3D val="0"/>
            <c:spPr>
              <a:solidFill>
                <a:schemeClr val="accent4"/>
              </a:solidFill>
              <a:ln>
                <a:noFill/>
              </a:ln>
              <a:effectLst/>
            </c:spPr>
            <c:extLst>
              <c:ext xmlns:c16="http://schemas.microsoft.com/office/drawing/2014/chart" uri="{C3380CC4-5D6E-409C-BE32-E72D297353CC}">
                <c16:uniqueId val="{00000007-DBB2-4B0A-BF2D-8F08F6758943}"/>
              </c:ext>
            </c:extLst>
          </c:dPt>
          <c:dPt>
            <c:idx val="4"/>
            <c:invertIfNegative val="1"/>
            <c:bubble3D val="0"/>
            <c:spPr>
              <a:solidFill>
                <a:schemeClr val="accent5"/>
              </a:solidFill>
              <a:ln>
                <a:noFill/>
              </a:ln>
              <a:effectLst/>
            </c:spPr>
            <c:extLst>
              <c:ext xmlns:c16="http://schemas.microsoft.com/office/drawing/2014/chart" uri="{C3380CC4-5D6E-409C-BE32-E72D297353CC}">
                <c16:uniqueId val="{00000009-DBB2-4B0A-BF2D-8F08F6758943}"/>
              </c:ext>
            </c:extLst>
          </c:dPt>
          <c:dPt>
            <c:idx val="5"/>
            <c:invertIfNegative val="1"/>
            <c:bubble3D val="0"/>
            <c:spPr>
              <a:solidFill>
                <a:schemeClr val="accent6"/>
              </a:solidFill>
              <a:ln>
                <a:noFill/>
              </a:ln>
              <a:effectLst/>
            </c:spPr>
            <c:extLst>
              <c:ext xmlns:c16="http://schemas.microsoft.com/office/drawing/2014/chart" uri="{C3380CC4-5D6E-409C-BE32-E72D297353CC}">
                <c16:uniqueId val="{0000000B-DBB2-4B0A-BF2D-8F08F6758943}"/>
              </c:ext>
            </c:extLst>
          </c:dPt>
          <c:dPt>
            <c:idx val="6"/>
            <c:invertIfNegative val="1"/>
            <c:bubble3D val="0"/>
            <c:spPr>
              <a:solidFill>
                <a:schemeClr val="accent1">
                  <a:lumMod val="60000"/>
                </a:schemeClr>
              </a:solidFill>
              <a:ln>
                <a:noFill/>
              </a:ln>
              <a:effectLst/>
            </c:spPr>
            <c:extLst>
              <c:ext xmlns:c16="http://schemas.microsoft.com/office/drawing/2014/chart" uri="{C3380CC4-5D6E-409C-BE32-E72D297353CC}">
                <c16:uniqueId val="{0000000D-DBB2-4B0A-BF2D-8F08F6758943}"/>
              </c:ext>
            </c:extLst>
          </c:dPt>
          <c:cat>
            <c:strRef>
              <c:f>'Estimates of the use of water ('!$BA$2:$BA$8</c:f>
              <c:strCache>
                <c:ptCount val="7"/>
                <c:pt idx="0">
                  <c:v>East Asia &amp; Pacific</c:v>
                </c:pt>
                <c:pt idx="1">
                  <c:v>Europe &amp; Central Asia</c:v>
                </c:pt>
                <c:pt idx="2">
                  <c:v>Latin America &amp; Caribbean</c:v>
                </c:pt>
                <c:pt idx="3">
                  <c:v>Middle East &amp; North Africa</c:v>
                </c:pt>
                <c:pt idx="4">
                  <c:v>North America</c:v>
                </c:pt>
                <c:pt idx="5">
                  <c:v>South Asia</c:v>
                </c:pt>
                <c:pt idx="6">
                  <c:v>Sub-Saharan Africa</c:v>
                </c:pt>
              </c:strCache>
              <c:extLst/>
            </c:strRef>
          </c:cat>
          <c:val>
            <c:numRef>
              <c:f>'Estimates of the use of water ('!$BB$2:$BB$8</c:f>
              <c:numCache>
                <c:formatCode>General</c:formatCode>
                <c:ptCount val="7"/>
                <c:pt idx="0">
                  <c:v>381466.79532582604</c:v>
                </c:pt>
                <c:pt idx="1">
                  <c:v>1357668.8128964999</c:v>
                </c:pt>
                <c:pt idx="2">
                  <c:v>3434209.7716033407</c:v>
                </c:pt>
                <c:pt idx="3">
                  <c:v>413178.92651149997</c:v>
                </c:pt>
                <c:pt idx="4">
                  <c:v>91110.254886999988</c:v>
                </c:pt>
                <c:pt idx="5">
                  <c:v>367930.44382455002</c:v>
                </c:pt>
                <c:pt idx="6">
                  <c:v>3984795.4044202105</c:v>
                </c:pt>
              </c:numCache>
              <c:extLst/>
            </c:numRef>
          </c:val>
          <c:extLst>
            <c:ext xmlns:c16="http://schemas.microsoft.com/office/drawing/2014/chart" uri="{C3380CC4-5D6E-409C-BE32-E72D297353CC}">
              <c16:uniqueId val="{0000000E-DBB2-4B0A-BF2D-8F08F6758943}"/>
            </c:ext>
          </c:extLst>
        </c:ser>
        <c:dLbls>
          <c:showLegendKey val="0"/>
          <c:showVal val="0"/>
          <c:showCatName val="0"/>
          <c:showSerName val="0"/>
          <c:showPercent val="0"/>
          <c:showBubbleSize val="0"/>
        </c:dLbls>
        <c:gapWidth val="219"/>
        <c:overlap val="-27"/>
        <c:axId val="1580815066"/>
        <c:axId val="1767949463"/>
      </c:barChart>
      <c:catAx>
        <c:axId val="158081506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ZA"/>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ZA"/>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67949463"/>
        <c:crosses val="autoZero"/>
        <c:auto val="1"/>
        <c:lblAlgn val="ctr"/>
        <c:lblOffset val="100"/>
        <c:noMultiLvlLbl val="1"/>
      </c:catAx>
      <c:valAx>
        <c:axId val="176794946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ZA"/>
                  <a:t>Population Size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081506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1"/>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65000"/>
                    <a:lumOff val="35000"/>
                  </a:schemeClr>
                </a:solidFill>
                <a:latin typeface="+mn-lt"/>
                <a:ea typeface="+mn-ea"/>
                <a:cs typeface="+mn-cs"/>
              </a:defRPr>
            </a:pPr>
            <a:r>
              <a:rPr lang="en-ZA"/>
              <a:t>Urban Population per Region</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65000"/>
                  <a:lumOff val="35000"/>
                </a:schemeClr>
              </a:solidFill>
              <a:latin typeface="+mn-lt"/>
              <a:ea typeface="+mn-ea"/>
              <a:cs typeface="+mn-cs"/>
            </a:defRPr>
          </a:pPr>
          <a:endParaRPr lang="en-US"/>
        </a:p>
      </c:txPr>
    </c:title>
    <c:autoTitleDeleted val="0"/>
    <c:plotArea>
      <c:layout/>
      <c:pieChart>
        <c:varyColors val="1"/>
        <c:ser>
          <c:idx val="0"/>
          <c:order val="0"/>
          <c:tx>
            <c:strRef>
              <c:f>'Estimates of the use of water ('!$BC$1</c:f>
              <c:strCache>
                <c:ptCount val="1"/>
                <c:pt idx="0">
                  <c:v>population_u_region</c:v>
                </c:pt>
              </c:strCache>
            </c:strRef>
          </c:tx>
          <c:dPt>
            <c:idx val="0"/>
            <c:bubble3D val="0"/>
            <c:spPr>
              <a:solidFill>
                <a:schemeClr val="accent1"/>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1-D87E-463C-94C9-8F4B3C416604}"/>
              </c:ext>
            </c:extLst>
          </c:dPt>
          <c:dPt>
            <c:idx val="1"/>
            <c:bubble3D val="0"/>
            <c:spPr>
              <a:solidFill>
                <a:schemeClr val="accent2"/>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D87E-463C-94C9-8F4B3C416604}"/>
              </c:ext>
            </c:extLst>
          </c:dPt>
          <c:dPt>
            <c:idx val="2"/>
            <c:bubble3D val="0"/>
            <c:spPr>
              <a:solidFill>
                <a:schemeClr val="accent3"/>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5-D87E-463C-94C9-8F4B3C416604}"/>
              </c:ext>
            </c:extLst>
          </c:dPt>
          <c:dPt>
            <c:idx val="3"/>
            <c:bubble3D val="0"/>
            <c:spPr>
              <a:solidFill>
                <a:schemeClr val="accent4"/>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7-D87E-463C-94C9-8F4B3C416604}"/>
              </c:ext>
            </c:extLst>
          </c:dPt>
          <c:dPt>
            <c:idx val="4"/>
            <c:bubble3D val="0"/>
            <c:spPr>
              <a:solidFill>
                <a:schemeClr val="accent5"/>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9-D87E-463C-94C9-8F4B3C416604}"/>
              </c:ext>
            </c:extLst>
          </c:dPt>
          <c:dPt>
            <c:idx val="5"/>
            <c:bubble3D val="0"/>
            <c:spPr>
              <a:solidFill>
                <a:schemeClr val="accent6"/>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B-D87E-463C-94C9-8F4B3C416604}"/>
              </c:ext>
            </c:extLst>
          </c:dPt>
          <c:dPt>
            <c:idx val="6"/>
            <c:bubble3D val="0"/>
            <c:spPr>
              <a:solidFill>
                <a:schemeClr val="accent1">
                  <a:lumMod val="6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D-D87E-463C-94C9-8F4B3C416604}"/>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'Estimates of the use of water ('!$BA$2:$BA$8</c:f>
              <c:strCache>
                <c:ptCount val="7"/>
                <c:pt idx="0">
                  <c:v>East Asia &amp; Pacific</c:v>
                </c:pt>
                <c:pt idx="1">
                  <c:v>Europe &amp; Central Asia</c:v>
                </c:pt>
                <c:pt idx="2">
                  <c:v>Latin America &amp; Caribbean</c:v>
                </c:pt>
                <c:pt idx="3">
                  <c:v>Middle East &amp; North Africa</c:v>
                </c:pt>
                <c:pt idx="4">
                  <c:v>North America</c:v>
                </c:pt>
                <c:pt idx="5">
                  <c:v>South Asia</c:v>
                </c:pt>
                <c:pt idx="6">
                  <c:v>Sub-Saharan Africa</c:v>
                </c:pt>
              </c:strCache>
            </c:strRef>
          </c:cat>
          <c:val>
            <c:numRef>
              <c:f>'Estimates of the use of water ('!$BC$2:$BC$8</c:f>
              <c:numCache>
                <c:formatCode>General</c:formatCode>
                <c:ptCount val="7"/>
                <c:pt idx="0">
                  <c:v>2590.1670074499998</c:v>
                </c:pt>
                <c:pt idx="1">
                  <c:v>3895.0309715499998</c:v>
                </c:pt>
                <c:pt idx="2">
                  <c:v>3540.6407785199999</c:v>
                </c:pt>
                <c:pt idx="3">
                  <c:v>753.34999847999995</c:v>
                </c:pt>
                <c:pt idx="4">
                  <c:v>728.60600281000006</c:v>
                </c:pt>
                <c:pt idx="5">
                  <c:v>818.77099610000005</c:v>
                </c:pt>
                <c:pt idx="6">
                  <c:v>2514.9200019799996</c:v>
                </c:pt>
              </c:numCache>
            </c:numRef>
          </c:val>
          <c:extLst>
            <c:ext xmlns:c16="http://schemas.microsoft.com/office/drawing/2014/chart" uri="{C3380CC4-5D6E-409C-BE32-E72D297353CC}">
              <c16:uniqueId val="{0000000E-D87E-463C-94C9-8F4B3C416604}"/>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b"/>
      <c:overlay val="0"/>
      <c:spPr>
        <a:solidFill>
          <a:schemeClr val="lt1">
            <a:alpha val="78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pattFill prst="dkDnDiag">
      <a:fgClr>
        <a:schemeClr val="lt1">
          <a:lumMod val="95000"/>
        </a:schemeClr>
      </a:fgClr>
      <a:bgClr>
        <a:schemeClr val="lt1"/>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a:t>Rural Population per Region</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'Estimates of the use of water ('!$BD$1</c:f>
              <c:strCache>
                <c:ptCount val="1"/>
                <c:pt idx="0">
                  <c:v>population_r_region</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'Estimates of the use of water ('!$BA$2:$BA$8</c:f>
              <c:strCache>
                <c:ptCount val="7"/>
                <c:pt idx="0">
                  <c:v>East Asia &amp; Pacific</c:v>
                </c:pt>
                <c:pt idx="1">
                  <c:v>Europe &amp; Central Asia</c:v>
                </c:pt>
                <c:pt idx="2">
                  <c:v>Latin America &amp; Caribbean</c:v>
                </c:pt>
                <c:pt idx="3">
                  <c:v>Middle East &amp; North Africa</c:v>
                </c:pt>
                <c:pt idx="4">
                  <c:v>North America</c:v>
                </c:pt>
                <c:pt idx="5">
                  <c:v>South Asia</c:v>
                </c:pt>
                <c:pt idx="6">
                  <c:v>Sub-Saharan Africa</c:v>
                </c:pt>
              </c:strCache>
            </c:strRef>
          </c:cat>
          <c:val>
            <c:numRef>
              <c:f>'Estimates of the use of water ('!$BD$2:$BD$8</c:f>
              <c:numCache>
                <c:formatCode>General</c:formatCode>
                <c:ptCount val="7"/>
                <c:pt idx="0">
                  <c:v>378876.62831837591</c:v>
                </c:pt>
                <c:pt idx="1">
                  <c:v>1353773.7819249502</c:v>
                </c:pt>
                <c:pt idx="2">
                  <c:v>3430669.1308248197</c:v>
                </c:pt>
                <c:pt idx="3">
                  <c:v>412425.57651301997</c:v>
                </c:pt>
                <c:pt idx="4">
                  <c:v>90381.648884189985</c:v>
                </c:pt>
                <c:pt idx="5">
                  <c:v>367111.67282845004</c:v>
                </c:pt>
                <c:pt idx="6">
                  <c:v>3982280.4844182297</c:v>
                </c:pt>
              </c:numCache>
            </c:numRef>
          </c:val>
          <c:extLst>
            <c:ext xmlns:c16="http://schemas.microsoft.com/office/drawing/2014/chart" uri="{C3380CC4-5D6E-409C-BE32-E72D297353CC}">
              <c16:uniqueId val="{00000000-324D-42F1-977E-C446EACEBDFB}"/>
            </c:ext>
          </c:extLst>
        </c:ser>
        <c:dLbls>
          <c:showLegendKey val="0"/>
          <c:showVal val="0"/>
          <c:showCatName val="0"/>
          <c:showSerName val="0"/>
          <c:showPercent val="0"/>
          <c:showBubbleSize val="0"/>
        </c:dLbls>
        <c:gapWidth val="150"/>
        <c:axId val="1670438575"/>
        <c:axId val="1573151711"/>
      </c:barChart>
      <c:valAx>
        <c:axId val="157315171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70438575"/>
        <c:crosses val="autoZero"/>
        <c:crossBetween val="between"/>
      </c:valAx>
      <c:catAx>
        <c:axId val="1670438575"/>
        <c:scaling>
          <c:orientation val="minMax"/>
        </c:scaling>
        <c:delete val="0"/>
        <c:axPos val="l"/>
        <c:numFmt formatCode="General"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73151711"/>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en-ZA"/>
              <a:t>National ARCs per Region</a:t>
            </a:r>
          </a:p>
        </c:rich>
      </c:tx>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1"/>
        <c:ser>
          <c:idx val="0"/>
          <c:order val="0"/>
          <c:invertIfNegative val="1"/>
          <c:dPt>
            <c:idx val="0"/>
            <c:invertIfNegative val="1"/>
            <c:bubble3D val="0"/>
            <c:spPr>
              <a:solidFill>
                <a:schemeClr val="accent1"/>
              </a:solidFill>
              <a:ln>
                <a:noFill/>
              </a:ln>
              <a:effectLst/>
            </c:spPr>
            <c:extLst>
              <c:ext xmlns:c16="http://schemas.microsoft.com/office/drawing/2014/chart" uri="{C3380CC4-5D6E-409C-BE32-E72D297353CC}">
                <c16:uniqueId val="{00000001-3C17-47F9-AEF6-E07CF7D005B2}"/>
              </c:ext>
            </c:extLst>
          </c:dPt>
          <c:dPt>
            <c:idx val="1"/>
            <c:invertIfNegative val="1"/>
            <c:bubble3D val="0"/>
            <c:spPr>
              <a:solidFill>
                <a:schemeClr val="accent2"/>
              </a:solidFill>
              <a:ln>
                <a:noFill/>
              </a:ln>
              <a:effectLst/>
            </c:spPr>
            <c:extLst>
              <c:ext xmlns:c16="http://schemas.microsoft.com/office/drawing/2014/chart" uri="{C3380CC4-5D6E-409C-BE32-E72D297353CC}">
                <c16:uniqueId val="{00000003-3C17-47F9-AEF6-E07CF7D005B2}"/>
              </c:ext>
            </c:extLst>
          </c:dPt>
          <c:dPt>
            <c:idx val="2"/>
            <c:invertIfNegative val="1"/>
            <c:bubble3D val="0"/>
            <c:spPr>
              <a:solidFill>
                <a:schemeClr val="accent3"/>
              </a:solidFill>
              <a:ln>
                <a:noFill/>
              </a:ln>
              <a:effectLst/>
            </c:spPr>
            <c:extLst>
              <c:ext xmlns:c16="http://schemas.microsoft.com/office/drawing/2014/chart" uri="{C3380CC4-5D6E-409C-BE32-E72D297353CC}">
                <c16:uniqueId val="{00000005-3C17-47F9-AEF6-E07CF7D005B2}"/>
              </c:ext>
            </c:extLst>
          </c:dPt>
          <c:dPt>
            <c:idx val="3"/>
            <c:invertIfNegative val="1"/>
            <c:bubble3D val="0"/>
            <c:spPr>
              <a:solidFill>
                <a:schemeClr val="accent4"/>
              </a:solidFill>
              <a:ln>
                <a:noFill/>
              </a:ln>
              <a:effectLst/>
            </c:spPr>
            <c:extLst>
              <c:ext xmlns:c16="http://schemas.microsoft.com/office/drawing/2014/chart" uri="{C3380CC4-5D6E-409C-BE32-E72D297353CC}">
                <c16:uniqueId val="{00000007-3C17-47F9-AEF6-E07CF7D005B2}"/>
              </c:ext>
            </c:extLst>
          </c:dPt>
          <c:dPt>
            <c:idx val="4"/>
            <c:invertIfNegative val="1"/>
            <c:bubble3D val="0"/>
            <c:spPr>
              <a:solidFill>
                <a:schemeClr val="accent5"/>
              </a:solidFill>
              <a:ln>
                <a:noFill/>
              </a:ln>
              <a:effectLst/>
            </c:spPr>
            <c:extLst>
              <c:ext xmlns:c16="http://schemas.microsoft.com/office/drawing/2014/chart" uri="{C3380CC4-5D6E-409C-BE32-E72D297353CC}">
                <c16:uniqueId val="{00000009-3C17-47F9-AEF6-E07CF7D005B2}"/>
              </c:ext>
            </c:extLst>
          </c:dPt>
          <c:dPt>
            <c:idx val="5"/>
            <c:invertIfNegative val="1"/>
            <c:bubble3D val="0"/>
            <c:spPr>
              <a:solidFill>
                <a:schemeClr val="accent6"/>
              </a:solidFill>
              <a:ln>
                <a:noFill/>
              </a:ln>
              <a:effectLst/>
            </c:spPr>
            <c:extLst>
              <c:ext xmlns:c16="http://schemas.microsoft.com/office/drawing/2014/chart" uri="{C3380CC4-5D6E-409C-BE32-E72D297353CC}">
                <c16:uniqueId val="{0000000B-3C17-47F9-AEF6-E07CF7D005B2}"/>
              </c:ext>
            </c:extLst>
          </c:dPt>
          <c:dPt>
            <c:idx val="6"/>
            <c:invertIfNegative val="1"/>
            <c:bubble3D val="0"/>
            <c:spPr>
              <a:solidFill>
                <a:schemeClr val="accent1">
                  <a:lumMod val="60000"/>
                </a:schemeClr>
              </a:solidFill>
              <a:ln>
                <a:noFill/>
              </a:ln>
              <a:effectLst/>
            </c:spPr>
            <c:extLst>
              <c:ext xmlns:c16="http://schemas.microsoft.com/office/drawing/2014/chart" uri="{C3380CC4-5D6E-409C-BE32-E72D297353CC}">
                <c16:uniqueId val="{0000000D-3C17-47F9-AEF6-E07CF7D005B2}"/>
              </c:ext>
            </c:extLst>
          </c:dPt>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'Estimates of the use of water ('!$AI$2:$AI$8</c:f>
              <c:strCache>
                <c:ptCount val="7"/>
                <c:pt idx="0">
                  <c:v>East Asia &amp; Pacific</c:v>
                </c:pt>
                <c:pt idx="1">
                  <c:v>Europe &amp; Central Asia</c:v>
                </c:pt>
                <c:pt idx="2">
                  <c:v>Latin America &amp; Caribbean</c:v>
                </c:pt>
                <c:pt idx="3">
                  <c:v>Middle East &amp; North Africa</c:v>
                </c:pt>
                <c:pt idx="4">
                  <c:v>North America</c:v>
                </c:pt>
                <c:pt idx="5">
                  <c:v>South Asia</c:v>
                </c:pt>
                <c:pt idx="6">
                  <c:v>Sub-Saharan Africa</c:v>
                </c:pt>
              </c:strCache>
            </c:strRef>
          </c:cat>
          <c:val>
            <c:numRef>
              <c:f>'Estimates of the use of water ('!$AM$2:$AM$8</c:f>
              <c:numCache>
                <c:formatCode>General</c:formatCode>
                <c:ptCount val="7"/>
                <c:pt idx="0">
                  <c:v>0.27843490218750017</c:v>
                </c:pt>
                <c:pt idx="1">
                  <c:v>0.10994069037500029</c:v>
                </c:pt>
                <c:pt idx="2">
                  <c:v>0.14141600237500015</c:v>
                </c:pt>
                <c:pt idx="3">
                  <c:v>0.34556302339999972</c:v>
                </c:pt>
                <c:pt idx="4">
                  <c:v>1.4298663000000052E-2</c:v>
                </c:pt>
                <c:pt idx="5">
                  <c:v>0.48023040018181767</c:v>
                </c:pt>
                <c:pt idx="6">
                  <c:v>0.55828082074528296</c:v>
                </c:pt>
              </c:numCache>
            </c:numRef>
          </c:val>
          <c:extLst>
            <c:ext xmlns:c16="http://schemas.microsoft.com/office/drawing/2014/chart" uri="{C3380CC4-5D6E-409C-BE32-E72D297353CC}">
              <c16:uniqueId val="{0000000E-3C17-47F9-AEF6-E07CF7D005B2}"/>
            </c:ext>
          </c:extLst>
        </c:ser>
        <c:dLbls>
          <c:dLblPos val="outEnd"/>
          <c:showLegendKey val="0"/>
          <c:showVal val="1"/>
          <c:showCatName val="0"/>
          <c:showSerName val="0"/>
          <c:showPercent val="0"/>
          <c:showBubbleSize val="0"/>
        </c:dLbls>
        <c:gapWidth val="444"/>
        <c:overlap val="-90"/>
        <c:axId val="477552604"/>
        <c:axId val="1959512332"/>
      </c:barChart>
      <c:catAx>
        <c:axId val="47755260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n-ZA"/>
                  <a:t>Region</a:t>
                </a:r>
              </a:p>
            </c:rich>
          </c:tx>
          <c:overlay val="0"/>
          <c:spPr>
            <a:noFill/>
            <a:ln>
              <a:noFill/>
            </a:ln>
            <a:effectLst/>
          </c:spPr>
          <c:txPr>
            <a:bodyPr rot="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n-lt"/>
                <a:ea typeface="+mn-ea"/>
                <a:cs typeface="+mn-cs"/>
              </a:defRPr>
            </a:pPr>
            <a:endParaRPr lang="en-US"/>
          </a:p>
        </c:txPr>
        <c:crossAx val="1959512332"/>
        <c:crosses val="autoZero"/>
        <c:auto val="1"/>
        <c:lblAlgn val="ctr"/>
        <c:lblOffset val="100"/>
        <c:noMultiLvlLbl val="1"/>
      </c:catAx>
      <c:valAx>
        <c:axId val="1959512332"/>
        <c:scaling>
          <c:orientation val="minMax"/>
          <c:max val="0.7"/>
        </c:scaling>
        <c:delete val="1"/>
        <c:axPos val="l"/>
        <c:title>
          <c:tx>
            <c:rich>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n-ZA"/>
                  <a:t>ARC (%)</a:t>
                </a:r>
              </a:p>
            </c:rich>
          </c:tx>
          <c:overlay val="0"/>
          <c:spPr>
            <a:noFill/>
            <a:ln>
              <a:noFill/>
            </a:ln>
            <a:effectLst/>
          </c:spPr>
          <c:txPr>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47755260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1"/>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0">
              <a:defRPr b="0">
                <a:solidFill>
                  <a:srgbClr val="757575"/>
                </a:solidFill>
                <a:latin typeface="+mn-lt"/>
              </a:defRPr>
            </a:pPr>
            <a:r>
              <a:rPr lang="en-ZA" b="0">
                <a:solidFill>
                  <a:srgbClr val="757575"/>
                </a:solidFill>
                <a:latin typeface="+mn-lt"/>
              </a:rPr>
              <a:t>Rural ARCs per Region</a:t>
            </a:r>
          </a:p>
        </c:rich>
      </c:tx>
      <c:overlay val="0"/>
    </c:title>
    <c:autoTitleDeleted val="0"/>
    <c:plotArea>
      <c:layout/>
      <c:barChart>
        <c:barDir val="col"/>
        <c:grouping val="clustered"/>
        <c:varyColors val="1"/>
        <c:ser>
          <c:idx val="0"/>
          <c:order val="0"/>
          <c:tx>
            <c:strRef>
              <c:f>'Estimates of the use of water ('!$AQ$1</c:f>
              <c:strCache>
                <c:ptCount val="1"/>
                <c:pt idx="0">
                  <c:v>avg_arc_r_per_region</c:v>
                </c:pt>
              </c:strCache>
            </c:strRef>
          </c:tx>
          <c:spPr>
            <a:solidFill>
              <a:srgbClr val="4285F4"/>
            </a:solidFill>
            <a:ln cmpd="sng">
              <a:solidFill>
                <a:srgbClr val="000000"/>
              </a:solidFill>
            </a:ln>
          </c:spPr>
          <c:invertIfNegative val="1"/>
          <c:cat>
            <c:strRef>
              <c:f>'Estimates of the use of water ('!$AI$2:$AI$9</c:f>
              <c:strCache>
                <c:ptCount val="7"/>
                <c:pt idx="0">
                  <c:v>East Asia &amp; Pacific</c:v>
                </c:pt>
                <c:pt idx="1">
                  <c:v>Europe &amp; Central Asia</c:v>
                </c:pt>
                <c:pt idx="2">
                  <c:v>Latin America &amp; Caribbean</c:v>
                </c:pt>
                <c:pt idx="3">
                  <c:v>Middle East &amp; North Africa</c:v>
                </c:pt>
                <c:pt idx="4">
                  <c:v>North America</c:v>
                </c:pt>
                <c:pt idx="5">
                  <c:v>South Asia</c:v>
                </c:pt>
                <c:pt idx="6">
                  <c:v>Sub-Saharan Africa</c:v>
                </c:pt>
              </c:strCache>
            </c:strRef>
          </c:cat>
          <c:val>
            <c:numRef>
              <c:f>'Estimates of the use of water ('!$AQ$2:$AQ$8</c:f>
              <c:numCache>
                <c:formatCode>General</c:formatCode>
                <c:ptCount val="7"/>
                <c:pt idx="0">
                  <c:v>0.30467688104999985</c:v>
                </c:pt>
                <c:pt idx="1">
                  <c:v>0.17181368293750007</c:v>
                </c:pt>
                <c:pt idx="2">
                  <c:v>0.32598402979166652</c:v>
                </c:pt>
                <c:pt idx="3">
                  <c:v>0.58958978319999988</c:v>
                </c:pt>
                <c:pt idx="4">
                  <c:v>7.1165655000000549E-2</c:v>
                </c:pt>
                <c:pt idx="5">
                  <c:v>0.55914462672727272</c:v>
                </c:pt>
                <c:pt idx="6">
                  <c:v>0.55861472052830197</c:v>
                </c:pt>
              </c:numCache>
            </c:numRef>
          </c:val>
          <c:extLst>
            <c:ext xmlns:c14="http://schemas.microsoft.com/office/drawing/2007/8/2/chart" uri="{6F2FDCE9-48DA-4B69-8628-5D25D57E5C99}">
              <c14:invertSolidFillFmt>
                <c14:spPr xmlns:c14="http://schemas.microsoft.com/office/drawing/2007/8/2/chart">
                  <a:solidFill>
                    <a:srgbClr val="FFFFFF"/>
                  </a:solidFill>
                  <a:ln cmpd="sng">
                    <a:solidFill>
                      <a:srgbClr val="000000"/>
                    </a:solidFill>
                  </a:ln>
                </c14:spPr>
              </c14:invertSolidFillFmt>
            </c:ext>
            <c:ext xmlns:c16="http://schemas.microsoft.com/office/drawing/2014/chart" uri="{C3380CC4-5D6E-409C-BE32-E72D297353CC}">
              <c16:uniqueId val="{00000000-D952-4CCD-93D0-ADE2DD304009}"/>
            </c:ext>
          </c:extLst>
        </c:ser>
        <c:dLbls>
          <c:showLegendKey val="0"/>
          <c:showVal val="0"/>
          <c:showCatName val="0"/>
          <c:showSerName val="0"/>
          <c:showPercent val="0"/>
          <c:showBubbleSize val="0"/>
        </c:dLbls>
        <c:gapWidth val="150"/>
        <c:axId val="1026069249"/>
        <c:axId val="1968598447"/>
      </c:barChart>
      <c:catAx>
        <c:axId val="1026069249"/>
        <c:scaling>
          <c:orientation val="minMax"/>
        </c:scaling>
        <c:delete val="0"/>
        <c:axPos val="b"/>
        <c:title>
          <c:tx>
            <c:rich>
              <a:bodyPr/>
              <a:lstStyle/>
              <a:p>
                <a:pPr lvl="0">
                  <a:defRPr b="0">
                    <a:solidFill>
                      <a:srgbClr val="000000"/>
                    </a:solidFill>
                    <a:latin typeface="+mn-lt"/>
                  </a:defRPr>
                </a:pPr>
                <a:r>
                  <a:rPr lang="en-ZA" b="0">
                    <a:solidFill>
                      <a:srgbClr val="000000"/>
                    </a:solidFill>
                    <a:latin typeface="+mn-lt"/>
                  </a:rPr>
                  <a:t>Region</a:t>
                </a:r>
              </a:p>
            </c:rich>
          </c:tx>
          <c:overlay val="0"/>
        </c:title>
        <c:numFmt formatCode="General" sourceLinked="1"/>
        <c:majorTickMark val="none"/>
        <c:minorTickMark val="none"/>
        <c:tickLblPos val="nextTo"/>
        <c:txPr>
          <a:bodyPr/>
          <a:lstStyle/>
          <a:p>
            <a:pPr lvl="0">
              <a:defRPr b="0">
                <a:solidFill>
                  <a:srgbClr val="000000"/>
                </a:solidFill>
                <a:latin typeface="+mn-lt"/>
              </a:defRPr>
            </a:pPr>
            <a:endParaRPr lang="en-US"/>
          </a:p>
        </c:txPr>
        <c:crossAx val="1968598447"/>
        <c:crosses val="autoZero"/>
        <c:auto val="1"/>
        <c:lblAlgn val="ctr"/>
        <c:lblOffset val="100"/>
        <c:noMultiLvlLbl val="1"/>
      </c:catAx>
      <c:valAx>
        <c:axId val="1968598447"/>
        <c:scaling>
          <c:orientation val="minMax"/>
          <c:max val="0.7"/>
        </c:scaling>
        <c:delete val="0"/>
        <c:axPos val="l"/>
        <c:majorGridlines>
          <c:spPr>
            <a:ln>
              <a:solidFill>
                <a:srgbClr val="B7B7B7"/>
              </a:solidFill>
            </a:ln>
          </c:spPr>
        </c:majorGridlines>
        <c:minorGridlines>
          <c:spPr>
            <a:ln>
              <a:solidFill>
                <a:srgbClr val="CCCCCC">
                  <a:alpha val="0"/>
                </a:srgbClr>
              </a:solidFill>
            </a:ln>
          </c:spPr>
        </c:minorGridlines>
        <c:title>
          <c:tx>
            <c:rich>
              <a:bodyPr/>
              <a:lstStyle/>
              <a:p>
                <a:pPr lvl="0">
                  <a:defRPr b="0">
                    <a:solidFill>
                      <a:srgbClr val="000000"/>
                    </a:solidFill>
                    <a:latin typeface="+mn-lt"/>
                  </a:defRPr>
                </a:pPr>
                <a:r>
                  <a:rPr lang="en-ZA" b="0">
                    <a:solidFill>
                      <a:srgbClr val="000000"/>
                    </a:solidFill>
                    <a:latin typeface="+mn-lt"/>
                  </a:rPr>
                  <a:t>ARC (%)</a:t>
                </a:r>
              </a:p>
            </c:rich>
          </c:tx>
          <c:overlay val="0"/>
        </c:title>
        <c:numFmt formatCode="General" sourceLinked="1"/>
        <c:majorTickMark val="none"/>
        <c:minorTickMark val="none"/>
        <c:tickLblPos val="nextTo"/>
        <c:spPr>
          <a:ln/>
        </c:spPr>
        <c:txPr>
          <a:bodyPr/>
          <a:lstStyle/>
          <a:p>
            <a:pPr lvl="0">
              <a:defRPr b="0">
                <a:solidFill>
                  <a:srgbClr val="000000"/>
                </a:solidFill>
                <a:latin typeface="+mn-lt"/>
              </a:defRPr>
            </a:pPr>
            <a:endParaRPr lang="en-US"/>
          </a:p>
        </c:txPr>
        <c:crossAx val="1026069249"/>
        <c:crosses val="autoZero"/>
        <c:crossBetween val="between"/>
      </c:valAx>
    </c:plotArea>
    <c:legend>
      <c:legendPos val="r"/>
      <c:overlay val="0"/>
      <c:txPr>
        <a:bodyPr/>
        <a:lstStyle/>
        <a:p>
          <a:pPr lvl="0">
            <a:defRPr b="0">
              <a:solidFill>
                <a:srgbClr val="1A1A1A"/>
              </a:solidFill>
              <a:latin typeface="+mn-lt"/>
            </a:defRPr>
          </a:pPr>
          <a:endParaRPr lang="en-US"/>
        </a:p>
      </c:txPr>
    </c:legend>
    <c:plotVisOnly val="1"/>
    <c:dispBlanksAs val="zero"/>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0">
              <a:defRPr b="0">
                <a:solidFill>
                  <a:srgbClr val="757575"/>
                </a:solidFill>
                <a:latin typeface="+mn-lt"/>
              </a:defRPr>
            </a:pPr>
            <a:r>
              <a:rPr lang="en-ZA" b="0">
                <a:solidFill>
                  <a:srgbClr val="757575"/>
                </a:solidFill>
                <a:latin typeface="+mn-lt"/>
              </a:rPr>
              <a:t>Urban ARCs per Region</a:t>
            </a:r>
          </a:p>
        </c:rich>
      </c:tx>
      <c:overlay val="0"/>
    </c:title>
    <c:autoTitleDeleted val="0"/>
    <c:plotArea>
      <c:layout/>
      <c:barChart>
        <c:barDir val="col"/>
        <c:grouping val="clustered"/>
        <c:varyColors val="1"/>
        <c:ser>
          <c:idx val="0"/>
          <c:order val="0"/>
          <c:spPr>
            <a:solidFill>
              <a:srgbClr val="4285F4"/>
            </a:solidFill>
            <a:ln cmpd="sng">
              <a:solidFill>
                <a:srgbClr val="000000"/>
              </a:solidFill>
            </a:ln>
          </c:spPr>
          <c:invertIfNegative val="1"/>
          <c:cat>
            <c:strRef>
              <c:f>'Estimates of the use of water ('!$AI$2:$AI$8</c:f>
              <c:strCache>
                <c:ptCount val="7"/>
                <c:pt idx="0">
                  <c:v>East Asia &amp; Pacific</c:v>
                </c:pt>
                <c:pt idx="1">
                  <c:v>Europe &amp; Central Asia</c:v>
                </c:pt>
                <c:pt idx="2">
                  <c:v>Latin America &amp; Caribbean</c:v>
                </c:pt>
                <c:pt idx="3">
                  <c:v>Middle East &amp; North Africa</c:v>
                </c:pt>
                <c:pt idx="4">
                  <c:v>North America</c:v>
                </c:pt>
                <c:pt idx="5">
                  <c:v>South Asia</c:v>
                </c:pt>
                <c:pt idx="6">
                  <c:v>Sub-Saharan Africa</c:v>
                </c:pt>
              </c:strCache>
            </c:strRef>
          </c:cat>
          <c:val>
            <c:numRef>
              <c:f>'Estimates of the use of water ('!$AU$2:$AU$8</c:f>
              <c:numCache>
                <c:formatCode>General</c:formatCode>
                <c:ptCount val="7"/>
                <c:pt idx="0">
                  <c:v>0.15724659679999997</c:v>
                </c:pt>
                <c:pt idx="1">
                  <c:v>3.8917913593750082E-2</c:v>
                </c:pt>
                <c:pt idx="2">
                  <c:v>4.3210963333333352E-2</c:v>
                </c:pt>
                <c:pt idx="3">
                  <c:v>9.9182435999999236E-2</c:v>
                </c:pt>
                <c:pt idx="4">
                  <c:v>1.3554490000004195E-3</c:v>
                </c:pt>
                <c:pt idx="5">
                  <c:v>0.26548867309090962</c:v>
                </c:pt>
                <c:pt idx="6">
                  <c:v>0.2499616391320755</c:v>
                </c:pt>
              </c:numCache>
            </c:numRef>
          </c:val>
          <c:extLst>
            <c:ext xmlns:c14="http://schemas.microsoft.com/office/drawing/2007/8/2/chart" uri="{6F2FDCE9-48DA-4B69-8628-5D25D57E5C99}">
              <c14:invertSolidFillFmt>
                <c14:spPr xmlns:c14="http://schemas.microsoft.com/office/drawing/2007/8/2/chart">
                  <a:solidFill>
                    <a:srgbClr val="FFFFFF"/>
                  </a:solidFill>
                  <a:ln cmpd="sng">
                    <a:solidFill>
                      <a:srgbClr val="000000"/>
                    </a:solidFill>
                  </a:ln>
                </c14:spPr>
              </c14:invertSolidFillFmt>
            </c:ext>
            <c:ext xmlns:c16="http://schemas.microsoft.com/office/drawing/2014/chart" uri="{C3380CC4-5D6E-409C-BE32-E72D297353CC}">
              <c16:uniqueId val="{00000000-4375-4D79-9903-A335F6880E1B}"/>
            </c:ext>
          </c:extLst>
        </c:ser>
        <c:dLbls>
          <c:showLegendKey val="0"/>
          <c:showVal val="0"/>
          <c:showCatName val="0"/>
          <c:showSerName val="0"/>
          <c:showPercent val="0"/>
          <c:showBubbleSize val="0"/>
        </c:dLbls>
        <c:gapWidth val="150"/>
        <c:axId val="1239216882"/>
        <c:axId val="1184168969"/>
      </c:barChart>
      <c:catAx>
        <c:axId val="1239216882"/>
        <c:scaling>
          <c:orientation val="minMax"/>
        </c:scaling>
        <c:delete val="0"/>
        <c:axPos val="b"/>
        <c:title>
          <c:tx>
            <c:rich>
              <a:bodyPr/>
              <a:lstStyle/>
              <a:p>
                <a:pPr lvl="0">
                  <a:defRPr b="0">
                    <a:solidFill>
                      <a:srgbClr val="000000"/>
                    </a:solidFill>
                    <a:latin typeface="+mn-lt"/>
                  </a:defRPr>
                </a:pPr>
                <a:r>
                  <a:rPr lang="en-ZA" b="0">
                    <a:solidFill>
                      <a:srgbClr val="000000"/>
                    </a:solidFill>
                    <a:latin typeface="+mn-lt"/>
                  </a:rPr>
                  <a:t>Region</a:t>
                </a:r>
              </a:p>
            </c:rich>
          </c:tx>
          <c:overlay val="0"/>
        </c:title>
        <c:numFmt formatCode="General" sourceLinked="1"/>
        <c:majorTickMark val="none"/>
        <c:minorTickMark val="none"/>
        <c:tickLblPos val="nextTo"/>
        <c:txPr>
          <a:bodyPr/>
          <a:lstStyle/>
          <a:p>
            <a:pPr lvl="0">
              <a:defRPr b="0">
                <a:solidFill>
                  <a:srgbClr val="000000"/>
                </a:solidFill>
                <a:latin typeface="+mn-lt"/>
              </a:defRPr>
            </a:pPr>
            <a:endParaRPr lang="en-US"/>
          </a:p>
        </c:txPr>
        <c:crossAx val="1184168969"/>
        <c:crosses val="autoZero"/>
        <c:auto val="1"/>
        <c:lblAlgn val="ctr"/>
        <c:lblOffset val="100"/>
        <c:noMultiLvlLbl val="1"/>
      </c:catAx>
      <c:valAx>
        <c:axId val="1184168969"/>
        <c:scaling>
          <c:orientation val="minMax"/>
          <c:max val="0.3"/>
        </c:scaling>
        <c:delete val="0"/>
        <c:axPos val="l"/>
        <c:majorGridlines>
          <c:spPr>
            <a:ln>
              <a:solidFill>
                <a:srgbClr val="B7B7B7"/>
              </a:solidFill>
            </a:ln>
          </c:spPr>
        </c:majorGridlines>
        <c:minorGridlines>
          <c:spPr>
            <a:ln>
              <a:solidFill>
                <a:srgbClr val="CCCCCC">
                  <a:alpha val="0"/>
                </a:srgbClr>
              </a:solidFill>
            </a:ln>
          </c:spPr>
        </c:minorGridlines>
        <c:title>
          <c:tx>
            <c:rich>
              <a:bodyPr/>
              <a:lstStyle/>
              <a:p>
                <a:pPr lvl="0">
                  <a:defRPr b="0">
                    <a:solidFill>
                      <a:srgbClr val="000000"/>
                    </a:solidFill>
                    <a:latin typeface="+mn-lt"/>
                  </a:defRPr>
                </a:pPr>
                <a:r>
                  <a:rPr lang="en-ZA" b="0">
                    <a:solidFill>
                      <a:srgbClr val="000000"/>
                    </a:solidFill>
                    <a:latin typeface="+mn-lt"/>
                  </a:rPr>
                  <a:t>ARC (%)</a:t>
                </a:r>
              </a:p>
            </c:rich>
          </c:tx>
          <c:overlay val="0"/>
        </c:title>
        <c:numFmt formatCode="General" sourceLinked="1"/>
        <c:majorTickMark val="none"/>
        <c:minorTickMark val="none"/>
        <c:tickLblPos val="nextTo"/>
        <c:spPr>
          <a:ln/>
        </c:spPr>
        <c:txPr>
          <a:bodyPr/>
          <a:lstStyle/>
          <a:p>
            <a:pPr lvl="0">
              <a:defRPr b="0">
                <a:solidFill>
                  <a:srgbClr val="000000"/>
                </a:solidFill>
                <a:latin typeface="+mn-lt"/>
              </a:defRPr>
            </a:pPr>
            <a:endParaRPr lang="en-US"/>
          </a:p>
        </c:txPr>
        <c:crossAx val="1239216882"/>
        <c:crosses val="autoZero"/>
        <c:crossBetween val="between"/>
      </c:valAx>
    </c:plotArea>
    <c:legend>
      <c:legendPos val="r"/>
      <c:overlay val="0"/>
      <c:txPr>
        <a:bodyPr/>
        <a:lstStyle/>
        <a:p>
          <a:pPr lvl="0">
            <a:defRPr b="0">
              <a:solidFill>
                <a:srgbClr val="1A1A1A"/>
              </a:solidFill>
              <a:latin typeface="+mn-lt"/>
            </a:defRPr>
          </a:pPr>
          <a:endParaRPr lang="en-US"/>
        </a:p>
      </c:txPr>
    </c:legend>
    <c:plotVisOnly val="1"/>
    <c:dispBlanksAs val="zero"/>
    <c:showDLblsOverMax val="1"/>
  </c:chart>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900" kern="1200"/>
  </cs:axisTitle>
  <cs:categoryAxis>
    <cs:lnRef idx="0"/>
    <cs:fillRef idx="0"/>
    <cs:effectRef idx="0"/>
    <cs:fontRef idx="minor">
      <a:schemeClr val="dk1">
        <a:lumMod val="65000"/>
        <a:lumOff val="35000"/>
      </a:schemeClr>
    </cs:fontRef>
    <cs:defRPr sz="900"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18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D02070-2457-497F-8F60-EE529DFF4E73}" type="datetimeFigureOut">
              <a:rPr lang="en-ZA" smtClean="0"/>
              <a:t>2026/01/09</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4FF398-DB03-435C-903B-ACE32AE51201}" type="slidenum">
              <a:rPr lang="en-ZA" smtClean="0"/>
              <a:t>‹#›</a:t>
            </a:fld>
            <a:endParaRPr lang="en-ZA"/>
          </a:p>
        </p:txBody>
      </p:sp>
    </p:spTree>
    <p:extLst>
      <p:ext uri="{BB962C8B-B14F-4D97-AF65-F5344CB8AC3E}">
        <p14:creationId xmlns:p14="http://schemas.microsoft.com/office/powerpoint/2010/main" val="303567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B24FF398-DB03-435C-903B-ACE32AE51201}" type="slidenum">
              <a:rPr lang="en-ZA" smtClean="0"/>
              <a:t>10</a:t>
            </a:fld>
            <a:endParaRPr lang="en-ZA"/>
          </a:p>
        </p:txBody>
      </p:sp>
    </p:spTree>
    <p:extLst>
      <p:ext uri="{BB962C8B-B14F-4D97-AF65-F5344CB8AC3E}">
        <p14:creationId xmlns:p14="http://schemas.microsoft.com/office/powerpoint/2010/main" val="34183408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5E7FF7-7793-4902-B830-1D45DD465E51}" type="datetimeFigureOut">
              <a:rPr lang="en-ZA" smtClean="0"/>
              <a:t>2026/01/09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CCACA7C3-2B0D-40A2-9D07-79E8879CCBF6}" type="slidenum">
              <a:rPr lang="en-ZA" smtClean="0"/>
              <a:t>‹#›</a:t>
            </a:fld>
            <a:endParaRPr lang="en-ZA"/>
          </a:p>
        </p:txBody>
      </p:sp>
    </p:spTree>
    <p:extLst>
      <p:ext uri="{BB962C8B-B14F-4D97-AF65-F5344CB8AC3E}">
        <p14:creationId xmlns:p14="http://schemas.microsoft.com/office/powerpoint/2010/main" val="836754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5E7FF7-7793-4902-B830-1D45DD465E51}" type="datetimeFigureOut">
              <a:rPr lang="en-ZA" smtClean="0"/>
              <a:t>2026/01/09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CCACA7C3-2B0D-40A2-9D07-79E8879CCBF6}" type="slidenum">
              <a:rPr lang="en-ZA" smtClean="0"/>
              <a:t>‹#›</a:t>
            </a:fld>
            <a:endParaRPr lang="en-ZA"/>
          </a:p>
        </p:txBody>
      </p:sp>
    </p:spTree>
    <p:extLst>
      <p:ext uri="{BB962C8B-B14F-4D97-AF65-F5344CB8AC3E}">
        <p14:creationId xmlns:p14="http://schemas.microsoft.com/office/powerpoint/2010/main" val="3366716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5E7FF7-7793-4902-B830-1D45DD465E51}" type="datetimeFigureOut">
              <a:rPr lang="en-ZA" smtClean="0"/>
              <a:t>2026/01/09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CCACA7C3-2B0D-40A2-9D07-79E8879CCBF6}" type="slidenum">
              <a:rPr lang="en-ZA" smtClean="0"/>
              <a:t>‹#›</a:t>
            </a:fld>
            <a:endParaRPr lang="en-ZA"/>
          </a:p>
        </p:txBody>
      </p:sp>
    </p:spTree>
    <p:extLst>
      <p:ext uri="{BB962C8B-B14F-4D97-AF65-F5344CB8AC3E}">
        <p14:creationId xmlns:p14="http://schemas.microsoft.com/office/powerpoint/2010/main" val="1218326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5E7FF7-7793-4902-B830-1D45DD465E51}" type="datetimeFigureOut">
              <a:rPr lang="en-ZA" smtClean="0"/>
              <a:t>2026/01/09</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CCACA7C3-2B0D-40A2-9D07-79E8879CCBF6}" type="slidenum">
              <a:rPr lang="en-ZA" smtClean="0"/>
              <a:t>‹#›</a:t>
            </a:fld>
            <a:endParaRPr lang="en-ZA"/>
          </a:p>
        </p:txBody>
      </p:sp>
    </p:spTree>
    <p:extLst>
      <p:ext uri="{BB962C8B-B14F-4D97-AF65-F5344CB8AC3E}">
        <p14:creationId xmlns:p14="http://schemas.microsoft.com/office/powerpoint/2010/main" val="3459917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5E7FF7-7793-4902-B830-1D45DD465E51}" type="datetimeFigureOut">
              <a:rPr lang="en-ZA" smtClean="0"/>
              <a:t>2026/01/09</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CCACA7C3-2B0D-40A2-9D07-79E8879CCBF6}" type="slidenum">
              <a:rPr lang="en-ZA" smtClean="0"/>
              <a:t>‹#›</a:t>
            </a:fld>
            <a:endParaRPr lang="en-ZA"/>
          </a:p>
        </p:txBody>
      </p:sp>
    </p:spTree>
    <p:extLst>
      <p:ext uri="{BB962C8B-B14F-4D97-AF65-F5344CB8AC3E}">
        <p14:creationId xmlns:p14="http://schemas.microsoft.com/office/powerpoint/2010/main" val="780122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5E7FF7-7793-4902-B830-1D45DD465E51}" type="datetimeFigureOut">
              <a:rPr lang="en-ZA" smtClean="0"/>
              <a:t>2026/01/09</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CCACA7C3-2B0D-40A2-9D07-79E8879CCBF6}" type="slidenum">
              <a:rPr lang="en-ZA" smtClean="0"/>
              <a:t>‹#›</a:t>
            </a:fld>
            <a:endParaRPr lang="en-ZA"/>
          </a:p>
        </p:txBody>
      </p:sp>
    </p:spTree>
    <p:extLst>
      <p:ext uri="{BB962C8B-B14F-4D97-AF65-F5344CB8AC3E}">
        <p14:creationId xmlns:p14="http://schemas.microsoft.com/office/powerpoint/2010/main" val="3740189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5E7FF7-7793-4902-B830-1D45DD465E51}" type="datetimeFigureOut">
              <a:rPr lang="en-ZA" smtClean="0"/>
              <a:t>2026/01/09</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CCACA7C3-2B0D-40A2-9D07-79E8879CCBF6}" type="slidenum">
              <a:rPr lang="en-ZA" smtClean="0"/>
              <a:t>‹#›</a:t>
            </a:fld>
            <a:endParaRPr lang="en-ZA"/>
          </a:p>
        </p:txBody>
      </p:sp>
    </p:spTree>
    <p:extLst>
      <p:ext uri="{BB962C8B-B14F-4D97-AF65-F5344CB8AC3E}">
        <p14:creationId xmlns:p14="http://schemas.microsoft.com/office/powerpoint/2010/main" val="2195113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5E7FF7-7793-4902-B830-1D45DD465E51}" type="datetimeFigureOut">
              <a:rPr lang="en-ZA" smtClean="0"/>
              <a:t>2026/01/09</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CCACA7C3-2B0D-40A2-9D07-79E8879CCBF6}" type="slidenum">
              <a:rPr lang="en-ZA" smtClean="0"/>
              <a:t>‹#›</a:t>
            </a:fld>
            <a:endParaRPr lang="en-ZA"/>
          </a:p>
        </p:txBody>
      </p:sp>
    </p:spTree>
    <p:extLst>
      <p:ext uri="{BB962C8B-B14F-4D97-AF65-F5344CB8AC3E}">
        <p14:creationId xmlns:p14="http://schemas.microsoft.com/office/powerpoint/2010/main" val="2063083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5E7FF7-7793-4902-B830-1D45DD465E51}" type="datetimeFigureOut">
              <a:rPr lang="en-ZA" smtClean="0"/>
              <a:t>2026/01/09</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CCACA7C3-2B0D-40A2-9D07-79E8879CCBF6}" type="slidenum">
              <a:rPr lang="en-ZA" smtClean="0"/>
              <a:t>‹#›</a:t>
            </a:fld>
            <a:endParaRPr lang="en-ZA"/>
          </a:p>
        </p:txBody>
      </p:sp>
    </p:spTree>
    <p:extLst>
      <p:ext uri="{BB962C8B-B14F-4D97-AF65-F5344CB8AC3E}">
        <p14:creationId xmlns:p14="http://schemas.microsoft.com/office/powerpoint/2010/main" val="1168401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5E7FF7-7793-4902-B830-1D45DD465E51}" type="datetimeFigureOut">
              <a:rPr lang="en-ZA" smtClean="0"/>
              <a:t>2026/01/09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CCACA7C3-2B0D-40A2-9D07-79E8879CCBF6}" type="slidenum">
              <a:rPr lang="en-ZA" smtClean="0"/>
              <a:t>‹#›</a:t>
            </a:fld>
            <a:endParaRPr lang="en-ZA"/>
          </a:p>
        </p:txBody>
      </p:sp>
    </p:spTree>
    <p:extLst>
      <p:ext uri="{BB962C8B-B14F-4D97-AF65-F5344CB8AC3E}">
        <p14:creationId xmlns:p14="http://schemas.microsoft.com/office/powerpoint/2010/main" val="847634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5E7FF7-7793-4902-B830-1D45DD465E51}" type="datetimeFigureOut">
              <a:rPr lang="en-ZA" smtClean="0"/>
              <a:t>2026/01/09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CCACA7C3-2B0D-40A2-9D07-79E8879CCBF6}" type="slidenum">
              <a:rPr lang="en-ZA" smtClean="0"/>
              <a:t>‹#›</a:t>
            </a:fld>
            <a:endParaRPr lang="en-ZA"/>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2540707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5E7FF7-7793-4902-B830-1D45DD465E51}" type="datetimeFigureOut">
              <a:rPr lang="en-ZA" smtClean="0"/>
              <a:t>2026/01/09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CCACA7C3-2B0D-40A2-9D07-79E8879CCBF6}" type="slidenum">
              <a:rPr lang="en-ZA" smtClean="0"/>
              <a:t>‹#›</a:t>
            </a:fld>
            <a:endParaRPr lang="en-ZA"/>
          </a:p>
        </p:txBody>
      </p:sp>
    </p:spTree>
    <p:extLst>
      <p:ext uri="{BB962C8B-B14F-4D97-AF65-F5344CB8AC3E}">
        <p14:creationId xmlns:p14="http://schemas.microsoft.com/office/powerpoint/2010/main" val="25951777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5E7FF7-7793-4902-B830-1D45DD465E51}" type="datetimeFigureOut">
              <a:rPr lang="en-ZA" smtClean="0"/>
              <a:t>2026/01/09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CCACA7C3-2B0D-40A2-9D07-79E8879CCBF6}" type="slidenum">
              <a:rPr lang="en-ZA" smtClean="0"/>
              <a:t>‹#›</a:t>
            </a:fld>
            <a:endParaRPr lang="en-ZA"/>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897454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5E7FF7-7793-4902-B830-1D45DD465E51}" type="datetimeFigureOut">
              <a:rPr lang="en-ZA" smtClean="0"/>
              <a:t>2026/01/09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CCACA7C3-2B0D-40A2-9D07-79E8879CCBF6}" type="slidenum">
              <a:rPr lang="en-ZA" smtClean="0"/>
              <a:t>‹#›</a:t>
            </a:fld>
            <a:endParaRPr lang="en-ZA"/>
          </a:p>
        </p:txBody>
      </p:sp>
    </p:spTree>
    <p:extLst>
      <p:ext uri="{BB962C8B-B14F-4D97-AF65-F5344CB8AC3E}">
        <p14:creationId xmlns:p14="http://schemas.microsoft.com/office/powerpoint/2010/main" val="9502278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5E7FF7-7793-4902-B830-1D45DD465E51}" type="datetimeFigureOut">
              <a:rPr lang="en-ZA" smtClean="0"/>
              <a:t>2026/01/09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CCACA7C3-2B0D-40A2-9D07-79E8879CCBF6}" type="slidenum">
              <a:rPr lang="en-ZA" smtClean="0"/>
              <a:t>‹#›</a:t>
            </a:fld>
            <a:endParaRPr lang="en-ZA"/>
          </a:p>
        </p:txBody>
      </p:sp>
    </p:spTree>
    <p:extLst>
      <p:ext uri="{BB962C8B-B14F-4D97-AF65-F5344CB8AC3E}">
        <p14:creationId xmlns:p14="http://schemas.microsoft.com/office/powerpoint/2010/main" val="376663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5E7FF7-7793-4902-B830-1D45DD465E51}" type="datetimeFigureOut">
              <a:rPr lang="en-ZA" smtClean="0"/>
              <a:t>2026/01/09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CCACA7C3-2B0D-40A2-9D07-79E8879CCBF6}" type="slidenum">
              <a:rPr lang="en-ZA" smtClean="0"/>
              <a:t>‹#›</a:t>
            </a:fld>
            <a:endParaRPr lang="en-ZA"/>
          </a:p>
        </p:txBody>
      </p:sp>
    </p:spTree>
    <p:extLst>
      <p:ext uri="{BB962C8B-B14F-4D97-AF65-F5344CB8AC3E}">
        <p14:creationId xmlns:p14="http://schemas.microsoft.com/office/powerpoint/2010/main" val="1593950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65E7FF7-7793-4902-B830-1D45DD465E51}" type="datetimeFigureOut">
              <a:rPr lang="en-ZA" smtClean="0"/>
              <a:t>2026/01/09</a:t>
            </a:fld>
            <a:endParaRPr lang="en-ZA"/>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CACA7C3-2B0D-40A2-9D07-79E8879CCBF6}" type="slidenum">
              <a:rPr lang="en-ZA" smtClean="0"/>
              <a:t>‹#›</a:t>
            </a:fld>
            <a:endParaRPr lang="en-ZA"/>
          </a:p>
        </p:txBody>
      </p:sp>
    </p:spTree>
    <p:extLst>
      <p:ext uri="{BB962C8B-B14F-4D97-AF65-F5344CB8AC3E}">
        <p14:creationId xmlns:p14="http://schemas.microsoft.com/office/powerpoint/2010/main" val="236056224"/>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0" r:id="rId15"/>
    <p:sldLayoutId id="214748377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87204-1F11-0F19-BFC3-7A42CBC4C207}"/>
              </a:ext>
            </a:extLst>
          </p:cNvPr>
          <p:cNvSpPr>
            <a:spLocks noGrp="1"/>
          </p:cNvSpPr>
          <p:nvPr>
            <p:ph type="ctrTitle"/>
          </p:nvPr>
        </p:nvSpPr>
        <p:spPr>
          <a:xfrm>
            <a:off x="985969" y="4473227"/>
            <a:ext cx="8288032" cy="1096648"/>
          </a:xfrm>
        </p:spPr>
        <p:txBody>
          <a:bodyPr>
            <a:normAutofit/>
          </a:bodyPr>
          <a:lstStyle/>
          <a:p>
            <a:pPr algn="l">
              <a:lnSpc>
                <a:spcPct val="90000"/>
              </a:lnSpc>
            </a:pPr>
            <a:r>
              <a:rPr lang="en-ZA" sz="3400" b="1" dirty="0">
                <a:latin typeface="Calibri" panose="020F0502020204030204" pitchFamily="34" charset="0"/>
                <a:ea typeface="Calibri" panose="020F0502020204030204" pitchFamily="34" charset="0"/>
                <a:cs typeface="Calibri" panose="020F0502020204030204" pitchFamily="34" charset="0"/>
              </a:rPr>
              <a:t> Maji Ndogo Project: </a:t>
            </a:r>
            <a:r>
              <a:rPr lang="en-ZA" sz="3400" dirty="0">
                <a:latin typeface="Calibri" panose="020F0502020204030204" pitchFamily="34" charset="0"/>
                <a:ea typeface="Calibri" panose="020F0502020204030204" pitchFamily="34" charset="0"/>
                <a:cs typeface="Calibri" panose="020F0502020204030204" pitchFamily="34" charset="0"/>
              </a:rPr>
              <a:t>Insights Into The Data.</a:t>
            </a:r>
          </a:p>
        </p:txBody>
      </p:sp>
      <p:pic>
        <p:nvPicPr>
          <p:cNvPr id="5" name="Picture 4">
            <a:extLst>
              <a:ext uri="{FF2B5EF4-FFF2-40B4-BE49-F238E27FC236}">
                <a16:creationId xmlns:a16="http://schemas.microsoft.com/office/drawing/2014/main" id="{05DB22F9-7FC0-51CC-3A27-B735E422B005}"/>
              </a:ext>
            </a:extLst>
          </p:cNvPr>
          <p:cNvPicPr>
            <a:picLocks noChangeAspect="1"/>
          </p:cNvPicPr>
          <p:nvPr/>
        </p:nvPicPr>
        <p:blipFill>
          <a:blip r:embed="rId2">
            <a:extLst>
              <a:ext uri="{28A0092B-C50C-407E-A947-70E740481C1C}">
                <a14:useLocalDpi xmlns:a14="http://schemas.microsoft.com/office/drawing/2010/main" val="0"/>
              </a:ext>
            </a:extLst>
          </a:blip>
          <a:srcRect t="10972" r="2" b="4953"/>
          <a:stretch>
            <a:fillRect/>
          </a:stretch>
        </p:blipFill>
        <p:spPr>
          <a:xfrm>
            <a:off x="677334" y="468621"/>
            <a:ext cx="8274669" cy="3635025"/>
          </a:xfrm>
          <a:custGeom>
            <a:avLst/>
            <a:gdLst/>
            <a:ahLst/>
            <a:cxnLst/>
            <a:rect l="l" t="t" r="r" b="b"/>
            <a:pathLst>
              <a:path w="8274669" h="3635025">
                <a:moveTo>
                  <a:pt x="540554" y="0"/>
                </a:moveTo>
                <a:lnTo>
                  <a:pt x="8274669" y="0"/>
                </a:lnTo>
                <a:lnTo>
                  <a:pt x="8274669" y="3635025"/>
                </a:lnTo>
                <a:lnTo>
                  <a:pt x="0" y="3635025"/>
                </a:lnTo>
                <a:close/>
              </a:path>
            </a:pathLst>
          </a:custGeom>
        </p:spPr>
      </p:pic>
    </p:spTree>
    <p:extLst>
      <p:ext uri="{BB962C8B-B14F-4D97-AF65-F5344CB8AC3E}">
        <p14:creationId xmlns:p14="http://schemas.microsoft.com/office/powerpoint/2010/main" val="645360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33EA7-6429-368A-242A-68C991F67615}"/>
              </a:ext>
            </a:extLst>
          </p:cNvPr>
          <p:cNvSpPr>
            <a:spLocks noGrp="1"/>
          </p:cNvSpPr>
          <p:nvPr>
            <p:ph type="title"/>
          </p:nvPr>
        </p:nvSpPr>
        <p:spPr/>
        <p:txBody>
          <a:bodyPr/>
          <a:lstStyle/>
          <a:p>
            <a:r>
              <a:rPr lang="en-ZA" dirty="0"/>
              <a:t>Problem </a:t>
            </a:r>
          </a:p>
        </p:txBody>
      </p:sp>
      <p:sp>
        <p:nvSpPr>
          <p:cNvPr id="3" name="Content Placeholder 2">
            <a:extLst>
              <a:ext uri="{FF2B5EF4-FFF2-40B4-BE49-F238E27FC236}">
                <a16:creationId xmlns:a16="http://schemas.microsoft.com/office/drawing/2014/main" id="{BD2A3796-6CBB-21D8-15D2-C1EA83E77BBD}"/>
              </a:ext>
            </a:extLst>
          </p:cNvPr>
          <p:cNvSpPr>
            <a:spLocks noGrp="1"/>
          </p:cNvSpPr>
          <p:nvPr>
            <p:ph sz="half" idx="1"/>
          </p:nvPr>
        </p:nvSpPr>
        <p:spPr>
          <a:xfrm>
            <a:off x="167148" y="1406013"/>
            <a:ext cx="9812594" cy="5191432"/>
          </a:xfrm>
        </p:spPr>
        <p:txBody>
          <a:bodyPr/>
          <a:lstStyle/>
          <a:p>
            <a:r>
              <a:rPr lang="en-ZA" dirty="0"/>
              <a:t>Uncleaned raw dataset (missing values, duplications, unformatted cells, lack of data formatting etc.).</a:t>
            </a:r>
          </a:p>
          <a:p>
            <a:r>
              <a:rPr lang="en-ZA" dirty="0"/>
              <a:t>The raw data has insights related to the level of access to water in various countries that need to be uncovered so that feature engineering can be done.</a:t>
            </a:r>
          </a:p>
          <a:p>
            <a:r>
              <a:rPr lang="en-ZA" dirty="0"/>
              <a:t>We need to know the total population of rural and urban individuals and the population count split per region as well as determine the average rate of change of the level of access to water across regions. </a:t>
            </a:r>
          </a:p>
          <a:p>
            <a:r>
              <a:rPr lang="en-ZA" dirty="0"/>
              <a:t>We need quantitative indicators on the change of infrastructural development in each of the regions so that we know which regions to prioritise to increase the level of access to basic water services.</a:t>
            </a:r>
          </a:p>
          <a:p>
            <a:r>
              <a:rPr lang="en-ZA" dirty="0"/>
              <a:t>Prepare the data for the next step which is querying the data using SQL and feature engineering. [deep dive into the data]</a:t>
            </a:r>
          </a:p>
          <a:p>
            <a:endParaRPr lang="en-ZA" dirty="0"/>
          </a:p>
        </p:txBody>
      </p:sp>
    </p:spTree>
    <p:extLst>
      <p:ext uri="{BB962C8B-B14F-4D97-AF65-F5344CB8AC3E}">
        <p14:creationId xmlns:p14="http://schemas.microsoft.com/office/powerpoint/2010/main" val="1216878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35" name="Straight Connector 34">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7"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38"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39" name="Isosceles Triangle 38">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40"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41"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42"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43" name="Isosceles Triangle 42">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44" name="Isosceles Triangle 43">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grpSp>
      <p:sp>
        <p:nvSpPr>
          <p:cNvPr id="7" name="TextBox 6">
            <a:extLst>
              <a:ext uri="{FF2B5EF4-FFF2-40B4-BE49-F238E27FC236}">
                <a16:creationId xmlns:a16="http://schemas.microsoft.com/office/drawing/2014/main" id="{8858CA8D-EF31-BEFA-ED7B-82D1A34EE790}"/>
              </a:ext>
            </a:extLst>
          </p:cNvPr>
          <p:cNvSpPr txBox="1"/>
          <p:nvPr/>
        </p:nvSpPr>
        <p:spPr>
          <a:xfrm>
            <a:off x="1034024" y="5223933"/>
            <a:ext cx="8202517" cy="1087656"/>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600" kern="1200" dirty="0">
                <a:solidFill>
                  <a:schemeClr val="accent1"/>
                </a:solidFill>
                <a:latin typeface="+mj-lt"/>
                <a:ea typeface="+mj-ea"/>
                <a:cs typeface="+mj-cs"/>
              </a:rPr>
              <a:t>Becoming Familiar with the Dataset</a:t>
            </a:r>
          </a:p>
        </p:txBody>
      </p:sp>
      <p:pic>
        <p:nvPicPr>
          <p:cNvPr id="4" name="Picture 3">
            <a:extLst>
              <a:ext uri="{FF2B5EF4-FFF2-40B4-BE49-F238E27FC236}">
                <a16:creationId xmlns:a16="http://schemas.microsoft.com/office/drawing/2014/main" id="{D500A675-BC08-182F-7141-87B3B14B7F9E}"/>
              </a:ext>
            </a:extLst>
          </p:cNvPr>
          <p:cNvPicPr>
            <a:picLocks noChangeAspect="1"/>
          </p:cNvPicPr>
          <p:nvPr/>
        </p:nvPicPr>
        <p:blipFill>
          <a:blip r:embed="rId2">
            <a:extLst>
              <a:ext uri="{28A0092B-C50C-407E-A947-70E740481C1C}">
                <a14:useLocalDpi xmlns:a14="http://schemas.microsoft.com/office/drawing/2010/main" val="0"/>
              </a:ext>
            </a:extLst>
          </a:blip>
          <a:srcRect t="34721" b="4942"/>
          <a:stretch>
            <a:fillRect/>
          </a:stretch>
        </p:blipFill>
        <p:spPr>
          <a:xfrm>
            <a:off x="879109" y="55879"/>
            <a:ext cx="8488729" cy="5450841"/>
          </a:xfrm>
          <a:prstGeom prst="rect">
            <a:avLst/>
          </a:prstGeom>
        </p:spPr>
      </p:pic>
    </p:spTree>
    <p:extLst>
      <p:ext uri="{BB962C8B-B14F-4D97-AF65-F5344CB8AC3E}">
        <p14:creationId xmlns:p14="http://schemas.microsoft.com/office/powerpoint/2010/main" val="3649663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A4ACF7F-1A97-3281-F905-106871FF96E2}"/>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88C9B83F-64CD-41C1-925F-A08801FFD0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E1655065-0BD7-4422-BEC0-4401E99809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4DDD90AC-ABEC-4A76-9C9C-AD0A5F8FC7F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21A8AFEF-EC50-4C0B-9C64-814B76C82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3" name="Rectangle 25">
              <a:extLst>
                <a:ext uri="{FF2B5EF4-FFF2-40B4-BE49-F238E27FC236}">
                  <a16:creationId xmlns:a16="http://schemas.microsoft.com/office/drawing/2014/main" id="{CAFAA800-E117-4357-84E4-56B63EA03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4" name="Isosceles Triangle 13">
              <a:extLst>
                <a:ext uri="{FF2B5EF4-FFF2-40B4-BE49-F238E27FC236}">
                  <a16:creationId xmlns:a16="http://schemas.microsoft.com/office/drawing/2014/main" id="{8DDFC9F4-3B45-402D-8AD7-60B3F08ED7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5" name="Rectangle 27">
              <a:extLst>
                <a:ext uri="{FF2B5EF4-FFF2-40B4-BE49-F238E27FC236}">
                  <a16:creationId xmlns:a16="http://schemas.microsoft.com/office/drawing/2014/main" id="{F26A0854-FBE4-4587-B349-06BE192BD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6" name="Rectangle 28">
              <a:extLst>
                <a:ext uri="{FF2B5EF4-FFF2-40B4-BE49-F238E27FC236}">
                  <a16:creationId xmlns:a16="http://schemas.microsoft.com/office/drawing/2014/main" id="{54A9C4C6-FF7D-470E-BFCA-CE4F60A1F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7" name="Rectangle 29">
              <a:extLst>
                <a:ext uri="{FF2B5EF4-FFF2-40B4-BE49-F238E27FC236}">
                  <a16:creationId xmlns:a16="http://schemas.microsoft.com/office/drawing/2014/main" id="{B1721EA8-4871-45D4-B78F-AE805A300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8" name="Isosceles Triangle 17">
              <a:extLst>
                <a:ext uri="{FF2B5EF4-FFF2-40B4-BE49-F238E27FC236}">
                  <a16:creationId xmlns:a16="http://schemas.microsoft.com/office/drawing/2014/main" id="{E5763971-E3A3-45C6-9BA8-2E032C7A5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9" name="Isosceles Triangle 18">
              <a:extLst>
                <a:ext uri="{FF2B5EF4-FFF2-40B4-BE49-F238E27FC236}">
                  <a16:creationId xmlns:a16="http://schemas.microsoft.com/office/drawing/2014/main" id="{32752E94-0E01-4AF5-A43A-F2FAD8737C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grpSp>
      <p:pic>
        <p:nvPicPr>
          <p:cNvPr id="4" name="Picture 3">
            <a:extLst>
              <a:ext uri="{FF2B5EF4-FFF2-40B4-BE49-F238E27FC236}">
                <a16:creationId xmlns:a16="http://schemas.microsoft.com/office/drawing/2014/main" id="{51F80915-EF31-7EB4-201B-E9CEBEB2D8A1}"/>
              </a:ext>
            </a:extLst>
          </p:cNvPr>
          <p:cNvPicPr>
            <a:picLocks noChangeAspect="1"/>
          </p:cNvPicPr>
          <p:nvPr/>
        </p:nvPicPr>
        <p:blipFill>
          <a:blip r:embed="rId2">
            <a:extLst>
              <a:ext uri="{28A0092B-C50C-407E-A947-70E740481C1C}">
                <a14:useLocalDpi xmlns:a14="http://schemas.microsoft.com/office/drawing/2010/main" val="0"/>
              </a:ext>
            </a:extLst>
          </a:blip>
          <a:srcRect t="19425" b="5125"/>
          <a:stretch>
            <a:fillRect/>
          </a:stretch>
        </p:blipFill>
        <p:spPr>
          <a:xfrm>
            <a:off x="842598" y="121920"/>
            <a:ext cx="8431404" cy="5147786"/>
          </a:xfrm>
          <a:prstGeom prst="rect">
            <a:avLst/>
          </a:prstGeom>
        </p:spPr>
      </p:pic>
      <p:sp>
        <p:nvSpPr>
          <p:cNvPr id="7" name="TextBox 6">
            <a:extLst>
              <a:ext uri="{FF2B5EF4-FFF2-40B4-BE49-F238E27FC236}">
                <a16:creationId xmlns:a16="http://schemas.microsoft.com/office/drawing/2014/main" id="{A969C711-731F-04F2-7EE7-15B7B3FC3078}"/>
              </a:ext>
            </a:extLst>
          </p:cNvPr>
          <p:cNvSpPr txBox="1"/>
          <p:nvPr/>
        </p:nvSpPr>
        <p:spPr>
          <a:xfrm>
            <a:off x="747871" y="5269706"/>
            <a:ext cx="8202517" cy="1087656"/>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600" kern="1200" dirty="0">
                <a:solidFill>
                  <a:schemeClr val="accent1"/>
                </a:solidFill>
                <a:latin typeface="+mj-lt"/>
                <a:ea typeface="+mj-ea"/>
                <a:cs typeface="+mj-cs"/>
              </a:rPr>
              <a:t>Becoming Familiar with the Dataset</a:t>
            </a:r>
          </a:p>
        </p:txBody>
      </p:sp>
    </p:spTree>
    <p:extLst>
      <p:ext uri="{BB962C8B-B14F-4D97-AF65-F5344CB8AC3E}">
        <p14:creationId xmlns:p14="http://schemas.microsoft.com/office/powerpoint/2010/main" val="3629277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19D62B-FE0A-7373-B229-C7DC2004A907}"/>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83045286-EC4E-AD22-37D7-2629F287F9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7043DE70-5315-B4B6-D335-E4EAAE4AC55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13B8C723-EC59-C430-6833-EAB6B942565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2EC33B2E-0B32-C7ED-3F54-3CE7D8C06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3" name="Rectangle 25">
              <a:extLst>
                <a:ext uri="{FF2B5EF4-FFF2-40B4-BE49-F238E27FC236}">
                  <a16:creationId xmlns:a16="http://schemas.microsoft.com/office/drawing/2014/main" id="{29F72DB2-8CE3-6C32-498C-56BCEACEF0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4" name="Isosceles Triangle 13">
              <a:extLst>
                <a:ext uri="{FF2B5EF4-FFF2-40B4-BE49-F238E27FC236}">
                  <a16:creationId xmlns:a16="http://schemas.microsoft.com/office/drawing/2014/main" id="{0EA0AD33-78F4-40C8-68B8-3CE47FA53C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5" name="Rectangle 27">
              <a:extLst>
                <a:ext uri="{FF2B5EF4-FFF2-40B4-BE49-F238E27FC236}">
                  <a16:creationId xmlns:a16="http://schemas.microsoft.com/office/drawing/2014/main" id="{9F5ADF79-7AA2-EAF8-3404-75DEA71DC1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6" name="Rectangle 28">
              <a:extLst>
                <a:ext uri="{FF2B5EF4-FFF2-40B4-BE49-F238E27FC236}">
                  <a16:creationId xmlns:a16="http://schemas.microsoft.com/office/drawing/2014/main" id="{F760E32A-E7C1-9761-37DF-C8EFEB7E2C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7" name="Rectangle 29">
              <a:extLst>
                <a:ext uri="{FF2B5EF4-FFF2-40B4-BE49-F238E27FC236}">
                  <a16:creationId xmlns:a16="http://schemas.microsoft.com/office/drawing/2014/main" id="{D2C214BD-1461-A9B7-9BF6-19083076B2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8" name="Isosceles Triangle 17">
              <a:extLst>
                <a:ext uri="{FF2B5EF4-FFF2-40B4-BE49-F238E27FC236}">
                  <a16:creationId xmlns:a16="http://schemas.microsoft.com/office/drawing/2014/main" id="{912143BC-B0E5-8681-AE77-A31D91604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9" name="Isosceles Triangle 18">
              <a:extLst>
                <a:ext uri="{FF2B5EF4-FFF2-40B4-BE49-F238E27FC236}">
                  <a16:creationId xmlns:a16="http://schemas.microsoft.com/office/drawing/2014/main" id="{C593C20C-645A-262E-3294-5D879F259B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grpSp>
      <p:sp>
        <p:nvSpPr>
          <p:cNvPr id="7" name="TextBox 6">
            <a:extLst>
              <a:ext uri="{FF2B5EF4-FFF2-40B4-BE49-F238E27FC236}">
                <a16:creationId xmlns:a16="http://schemas.microsoft.com/office/drawing/2014/main" id="{7FD501B8-459C-362B-8C22-425AC530AFBE}"/>
              </a:ext>
            </a:extLst>
          </p:cNvPr>
          <p:cNvSpPr txBox="1"/>
          <p:nvPr/>
        </p:nvSpPr>
        <p:spPr>
          <a:xfrm>
            <a:off x="653304" y="5391646"/>
            <a:ext cx="8202517" cy="1087656"/>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600" kern="1200" dirty="0">
                <a:solidFill>
                  <a:schemeClr val="accent1"/>
                </a:solidFill>
                <a:latin typeface="+mj-lt"/>
                <a:ea typeface="+mj-ea"/>
                <a:cs typeface="+mj-cs"/>
              </a:rPr>
              <a:t>Becoming Familiar with the Dataset</a:t>
            </a:r>
          </a:p>
        </p:txBody>
      </p:sp>
      <p:pic>
        <p:nvPicPr>
          <p:cNvPr id="3" name="Picture 2">
            <a:extLst>
              <a:ext uri="{FF2B5EF4-FFF2-40B4-BE49-F238E27FC236}">
                <a16:creationId xmlns:a16="http://schemas.microsoft.com/office/drawing/2014/main" id="{FF10760B-D738-252D-1BDB-EC9A22C60188}"/>
              </a:ext>
            </a:extLst>
          </p:cNvPr>
          <p:cNvPicPr>
            <a:picLocks noChangeAspect="1"/>
          </p:cNvPicPr>
          <p:nvPr/>
        </p:nvPicPr>
        <p:blipFill>
          <a:blip r:embed="rId2">
            <a:extLst>
              <a:ext uri="{28A0092B-C50C-407E-A947-70E740481C1C}">
                <a14:useLocalDpi xmlns:a14="http://schemas.microsoft.com/office/drawing/2010/main" val="0"/>
              </a:ext>
            </a:extLst>
          </a:blip>
          <a:srcRect l="979" t="19427" r="1341" b="43754"/>
          <a:stretch>
            <a:fillRect/>
          </a:stretch>
        </p:blipFill>
        <p:spPr>
          <a:xfrm>
            <a:off x="842596" y="269320"/>
            <a:ext cx="8525241" cy="2484040"/>
          </a:xfrm>
          <a:prstGeom prst="rect">
            <a:avLst/>
          </a:prstGeom>
        </p:spPr>
      </p:pic>
      <p:sp>
        <p:nvSpPr>
          <p:cNvPr id="2" name="TextBox 1">
            <a:extLst>
              <a:ext uri="{FF2B5EF4-FFF2-40B4-BE49-F238E27FC236}">
                <a16:creationId xmlns:a16="http://schemas.microsoft.com/office/drawing/2014/main" id="{37711333-DF18-5B5B-AC71-5640040CE41D}"/>
              </a:ext>
            </a:extLst>
          </p:cNvPr>
          <p:cNvSpPr txBox="1"/>
          <p:nvPr/>
        </p:nvSpPr>
        <p:spPr>
          <a:xfrm>
            <a:off x="1071716" y="2979174"/>
            <a:ext cx="7857443" cy="1754326"/>
          </a:xfrm>
          <a:prstGeom prst="rect">
            <a:avLst/>
          </a:prstGeom>
          <a:noFill/>
        </p:spPr>
        <p:txBody>
          <a:bodyPr wrap="square" rtlCol="0">
            <a:spAutoFit/>
          </a:bodyPr>
          <a:lstStyle/>
          <a:p>
            <a:r>
              <a:rPr lang="en-ZA" dirty="0"/>
              <a:t>Process: </a:t>
            </a:r>
          </a:p>
          <a:p>
            <a:r>
              <a:rPr lang="en-ZA" dirty="0"/>
              <a:t>The ARC of the data set was calculated by taking the national, urban and rural percentage share of the level of access to basic water [</a:t>
            </a:r>
            <a:r>
              <a:rPr lang="en-ZA" dirty="0" err="1"/>
              <a:t>wat_bas</a:t>
            </a:r>
            <a:r>
              <a:rPr lang="en-ZA" dirty="0"/>
              <a:t>_()] for each country over 2 separate year periods. The sum of all the countries’ individual arcs was then added to get the total sum categorised per region each of the countries fall under.</a:t>
            </a:r>
          </a:p>
        </p:txBody>
      </p:sp>
    </p:spTree>
    <p:extLst>
      <p:ext uri="{BB962C8B-B14F-4D97-AF65-F5344CB8AC3E}">
        <p14:creationId xmlns:p14="http://schemas.microsoft.com/office/powerpoint/2010/main" val="4255205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40875E-D727-97EF-6B8D-D854DEF09E07}"/>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3"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4" name="Isosceles Triangle 13">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5"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6"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7"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8" name="Isosceles Triangle 17">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9" name="Isosceles Triangle 18">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grpSp>
      <p:sp>
        <p:nvSpPr>
          <p:cNvPr id="2" name="Title 1">
            <a:extLst>
              <a:ext uri="{FF2B5EF4-FFF2-40B4-BE49-F238E27FC236}">
                <a16:creationId xmlns:a16="http://schemas.microsoft.com/office/drawing/2014/main" id="{8E67B347-513D-66C9-5592-025F3F4D76D9}"/>
              </a:ext>
            </a:extLst>
          </p:cNvPr>
          <p:cNvSpPr>
            <a:spLocks noGrp="1"/>
          </p:cNvSpPr>
          <p:nvPr>
            <p:ph type="title"/>
          </p:nvPr>
        </p:nvSpPr>
        <p:spPr>
          <a:xfrm>
            <a:off x="-481090" y="6632839"/>
            <a:ext cx="8288032" cy="633413"/>
          </a:xfrm>
        </p:spPr>
        <p:txBody>
          <a:bodyPr vert="horz" lIns="91440" tIns="45720" rIns="91440" bIns="45720" rtlCol="0" anchor="b">
            <a:noAutofit/>
          </a:bodyPr>
          <a:lstStyle/>
          <a:p>
            <a:pPr algn="ctr">
              <a:lnSpc>
                <a:spcPct val="90000"/>
              </a:lnSpc>
            </a:pPr>
            <a:r>
              <a:rPr lang="en-US" sz="4800" kern="1200" dirty="0">
                <a:solidFill>
                  <a:schemeClr val="accent1"/>
                </a:solidFill>
                <a:latin typeface="+mj-lt"/>
                <a:ea typeface="+mj-ea"/>
                <a:cs typeface="+mj-cs"/>
              </a:rPr>
              <a:t>Raw Dataset</a:t>
            </a:r>
            <a:br>
              <a:rPr lang="en-US" sz="4800" kern="1200" dirty="0">
                <a:solidFill>
                  <a:schemeClr val="accent1"/>
                </a:solidFill>
                <a:latin typeface="+mj-lt"/>
                <a:ea typeface="+mj-ea"/>
                <a:cs typeface="+mj-cs"/>
              </a:rPr>
            </a:br>
            <a:endParaRPr lang="en-US" sz="4800" kern="1200" dirty="0">
              <a:solidFill>
                <a:schemeClr val="accent1"/>
              </a:solidFill>
              <a:latin typeface="+mj-lt"/>
              <a:ea typeface="+mj-ea"/>
              <a:cs typeface="+mj-cs"/>
            </a:endParaRPr>
          </a:p>
        </p:txBody>
      </p:sp>
      <p:pic>
        <p:nvPicPr>
          <p:cNvPr id="4" name="Picture 3">
            <a:extLst>
              <a:ext uri="{FF2B5EF4-FFF2-40B4-BE49-F238E27FC236}">
                <a16:creationId xmlns:a16="http://schemas.microsoft.com/office/drawing/2014/main" id="{D4A5E953-6555-C99D-CE1E-EF4A2B4C09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982" y="221064"/>
            <a:ext cx="11063236" cy="5536636"/>
          </a:xfrm>
          <a:prstGeom prst="rect">
            <a:avLst/>
          </a:prstGeom>
        </p:spPr>
      </p:pic>
    </p:spTree>
    <p:extLst>
      <p:ext uri="{BB962C8B-B14F-4D97-AF65-F5344CB8AC3E}">
        <p14:creationId xmlns:p14="http://schemas.microsoft.com/office/powerpoint/2010/main" val="1999456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88C9B83F-64CD-41C1-925F-A08801FFD0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E1655065-0BD7-4422-BEC0-4401E99809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4DDD90AC-ABEC-4A76-9C9C-AD0A5F8FC7F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21A8AFEF-EC50-4C0B-9C64-814B76C82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3" name="Rectangle 25">
              <a:extLst>
                <a:ext uri="{FF2B5EF4-FFF2-40B4-BE49-F238E27FC236}">
                  <a16:creationId xmlns:a16="http://schemas.microsoft.com/office/drawing/2014/main" id="{CAFAA800-E117-4357-84E4-56B63EA03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4" name="Isosceles Triangle 13">
              <a:extLst>
                <a:ext uri="{FF2B5EF4-FFF2-40B4-BE49-F238E27FC236}">
                  <a16:creationId xmlns:a16="http://schemas.microsoft.com/office/drawing/2014/main" id="{8DDFC9F4-3B45-402D-8AD7-60B3F08ED7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5" name="Rectangle 27">
              <a:extLst>
                <a:ext uri="{FF2B5EF4-FFF2-40B4-BE49-F238E27FC236}">
                  <a16:creationId xmlns:a16="http://schemas.microsoft.com/office/drawing/2014/main" id="{F26A0854-FBE4-4587-B349-06BE192BD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6" name="Rectangle 28">
              <a:extLst>
                <a:ext uri="{FF2B5EF4-FFF2-40B4-BE49-F238E27FC236}">
                  <a16:creationId xmlns:a16="http://schemas.microsoft.com/office/drawing/2014/main" id="{54A9C4C6-FF7D-470E-BFCA-CE4F60A1F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7" name="Rectangle 29">
              <a:extLst>
                <a:ext uri="{FF2B5EF4-FFF2-40B4-BE49-F238E27FC236}">
                  <a16:creationId xmlns:a16="http://schemas.microsoft.com/office/drawing/2014/main" id="{B1721EA8-4871-45D4-B78F-AE805A300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8" name="Isosceles Triangle 17">
              <a:extLst>
                <a:ext uri="{FF2B5EF4-FFF2-40B4-BE49-F238E27FC236}">
                  <a16:creationId xmlns:a16="http://schemas.microsoft.com/office/drawing/2014/main" id="{E5763971-E3A3-45C6-9BA8-2E032C7A5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9" name="Isosceles Triangle 18">
              <a:extLst>
                <a:ext uri="{FF2B5EF4-FFF2-40B4-BE49-F238E27FC236}">
                  <a16:creationId xmlns:a16="http://schemas.microsoft.com/office/drawing/2014/main" id="{32752E94-0E01-4AF5-A43A-F2FAD8737C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grpSp>
      <p:sp>
        <p:nvSpPr>
          <p:cNvPr id="2" name="Title 1">
            <a:extLst>
              <a:ext uri="{FF2B5EF4-FFF2-40B4-BE49-F238E27FC236}">
                <a16:creationId xmlns:a16="http://schemas.microsoft.com/office/drawing/2014/main" id="{9CCCA43D-8691-65DE-62B8-9FC273F956DD}"/>
              </a:ext>
            </a:extLst>
          </p:cNvPr>
          <p:cNvSpPr>
            <a:spLocks noGrp="1"/>
          </p:cNvSpPr>
          <p:nvPr>
            <p:ph type="title"/>
          </p:nvPr>
        </p:nvSpPr>
        <p:spPr>
          <a:xfrm>
            <a:off x="490042" y="5751243"/>
            <a:ext cx="8288032" cy="1096648"/>
          </a:xfrm>
        </p:spPr>
        <p:txBody>
          <a:bodyPr vert="horz" lIns="91440" tIns="45720" rIns="91440" bIns="45720" rtlCol="0" anchor="b">
            <a:normAutofit/>
          </a:bodyPr>
          <a:lstStyle/>
          <a:p>
            <a:r>
              <a:rPr lang="en-US" sz="4800" dirty="0"/>
              <a:t>Cleaned and Organised Data</a:t>
            </a:r>
          </a:p>
        </p:txBody>
      </p:sp>
      <p:pic>
        <p:nvPicPr>
          <p:cNvPr id="4" name="Picture 3">
            <a:extLst>
              <a:ext uri="{FF2B5EF4-FFF2-40B4-BE49-F238E27FC236}">
                <a16:creationId xmlns:a16="http://schemas.microsoft.com/office/drawing/2014/main" id="{CF339369-3092-45E5-3983-F0D9F050F7FE}"/>
              </a:ext>
            </a:extLst>
          </p:cNvPr>
          <p:cNvPicPr>
            <a:picLocks noChangeAspect="1"/>
          </p:cNvPicPr>
          <p:nvPr/>
        </p:nvPicPr>
        <p:blipFill>
          <a:blip r:embed="rId2">
            <a:extLst>
              <a:ext uri="{28A0092B-C50C-407E-A947-70E740481C1C}">
                <a14:useLocalDpi xmlns:a14="http://schemas.microsoft.com/office/drawing/2010/main" val="0"/>
              </a:ext>
            </a:extLst>
          </a:blip>
          <a:srcRect l="-2885" r="25027"/>
          <a:stretch>
            <a:fillRect/>
          </a:stretch>
        </p:blipFill>
        <p:spPr>
          <a:xfrm>
            <a:off x="130629" y="458508"/>
            <a:ext cx="11284297" cy="5436158"/>
          </a:xfrm>
          <a:prstGeom prst="rect">
            <a:avLst/>
          </a:prstGeom>
        </p:spPr>
      </p:pic>
    </p:spTree>
    <p:extLst>
      <p:ext uri="{BB962C8B-B14F-4D97-AF65-F5344CB8AC3E}">
        <p14:creationId xmlns:p14="http://schemas.microsoft.com/office/powerpoint/2010/main" val="2591260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F07911-C814-B0BA-3167-F0E96BB1143E}"/>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3"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4" name="Isosceles Triangle 13">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5"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6"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7"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8" name="Isosceles Triangle 17">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9" name="Isosceles Triangle 18">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grpSp>
      <p:sp>
        <p:nvSpPr>
          <p:cNvPr id="2" name="Title 1">
            <a:extLst>
              <a:ext uri="{FF2B5EF4-FFF2-40B4-BE49-F238E27FC236}">
                <a16:creationId xmlns:a16="http://schemas.microsoft.com/office/drawing/2014/main" id="{F173BBCB-DC25-F4CC-4FE6-D75FE4C63163}"/>
              </a:ext>
            </a:extLst>
          </p:cNvPr>
          <p:cNvSpPr>
            <a:spLocks noGrp="1"/>
          </p:cNvSpPr>
          <p:nvPr>
            <p:ph type="title"/>
          </p:nvPr>
        </p:nvSpPr>
        <p:spPr>
          <a:xfrm>
            <a:off x="-640368" y="6790749"/>
            <a:ext cx="8288032" cy="453292"/>
          </a:xfrm>
        </p:spPr>
        <p:txBody>
          <a:bodyPr vert="horz" lIns="91440" tIns="45720" rIns="91440" bIns="45720" rtlCol="0" anchor="b">
            <a:normAutofit fontScale="90000"/>
          </a:bodyPr>
          <a:lstStyle/>
          <a:p>
            <a:pPr algn="ctr">
              <a:lnSpc>
                <a:spcPct val="90000"/>
              </a:lnSpc>
            </a:pPr>
            <a:r>
              <a:rPr lang="en-US" sz="5300" kern="1200" dirty="0">
                <a:solidFill>
                  <a:schemeClr val="accent1"/>
                </a:solidFill>
                <a:latin typeface="+mj-lt"/>
                <a:ea typeface="+mj-ea"/>
                <a:cs typeface="+mj-cs"/>
              </a:rPr>
              <a:t>Feature Engineering</a:t>
            </a:r>
            <a:br>
              <a:rPr lang="en-US" sz="3400" kern="1200" dirty="0">
                <a:solidFill>
                  <a:schemeClr val="accent1"/>
                </a:solidFill>
                <a:latin typeface="+mj-lt"/>
                <a:ea typeface="+mj-ea"/>
                <a:cs typeface="+mj-cs"/>
              </a:rPr>
            </a:br>
            <a:endParaRPr lang="en-US" sz="3400" kern="1200" dirty="0">
              <a:solidFill>
                <a:schemeClr val="accent1"/>
              </a:solidFill>
              <a:latin typeface="+mj-lt"/>
              <a:ea typeface="+mj-ea"/>
              <a:cs typeface="+mj-cs"/>
            </a:endParaRPr>
          </a:p>
        </p:txBody>
      </p:sp>
      <p:pic>
        <p:nvPicPr>
          <p:cNvPr id="4" name="Picture 3">
            <a:extLst>
              <a:ext uri="{FF2B5EF4-FFF2-40B4-BE49-F238E27FC236}">
                <a16:creationId xmlns:a16="http://schemas.microsoft.com/office/drawing/2014/main" id="{F344B943-636F-5B4E-4C05-29215A155C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886" y="311499"/>
            <a:ext cx="11284299" cy="5666154"/>
          </a:xfrm>
          <a:prstGeom prst="rect">
            <a:avLst/>
          </a:prstGeom>
        </p:spPr>
      </p:pic>
    </p:spTree>
    <p:extLst>
      <p:ext uri="{BB962C8B-B14F-4D97-AF65-F5344CB8AC3E}">
        <p14:creationId xmlns:p14="http://schemas.microsoft.com/office/powerpoint/2010/main" val="4152602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C8877-1515-6EFB-FB5D-7BAA2E064D9C}"/>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7C2C25A-F070-55AC-9CF3-2EB2A7205B64}"/>
              </a:ext>
            </a:extLst>
          </p:cNvPr>
          <p:cNvSpPr>
            <a:spLocks noGrp="1"/>
          </p:cNvSpPr>
          <p:nvPr>
            <p:ph sz="half" idx="2"/>
          </p:nvPr>
        </p:nvSpPr>
        <p:spPr>
          <a:xfrm>
            <a:off x="6827330" y="132081"/>
            <a:ext cx="5130990" cy="6431280"/>
          </a:xfrm>
        </p:spPr>
        <p:txBody>
          <a:bodyPr/>
          <a:lstStyle/>
          <a:p>
            <a:r>
              <a:rPr lang="en-ZA" dirty="0"/>
              <a:t>Sub-Saharan Africa, Latin America and Caribbean and Europe and Central Asia rank among the highest in population count in the Maji Ndogo data set.</a:t>
            </a:r>
          </a:p>
          <a:p>
            <a:r>
              <a:rPr lang="en-ZA" dirty="0"/>
              <a:t>This graph gives us valuable insight into the proportion of individuals affected by basic water access levels in Maji Ndogo and also paint a picture of how much the lack of access to water affects  predominantly third world countries. This is a problem that is exacerbated by structural inequalities and inefficiencies experienced by the significantly affected countries.</a:t>
            </a:r>
          </a:p>
          <a:p>
            <a:endParaRPr lang="en-ZA" dirty="0"/>
          </a:p>
        </p:txBody>
      </p:sp>
      <p:graphicFrame>
        <p:nvGraphicFramePr>
          <p:cNvPr id="5" name="Content Placeholder 4" title="Chart">
            <a:extLst>
              <a:ext uri="{FF2B5EF4-FFF2-40B4-BE49-F238E27FC236}">
                <a16:creationId xmlns:a16="http://schemas.microsoft.com/office/drawing/2014/main" id="{00000000-0008-0000-0000-000006000000}"/>
              </a:ext>
            </a:extLst>
          </p:cNvPr>
          <p:cNvGraphicFramePr>
            <a:graphicFrameLocks noGrp="1"/>
          </p:cNvGraphicFramePr>
          <p:nvPr>
            <p:ph sz="half" idx="1"/>
            <p:extLst>
              <p:ext uri="{D42A27DB-BD31-4B8C-83A1-F6EECF244321}">
                <p14:modId xmlns:p14="http://schemas.microsoft.com/office/powerpoint/2010/main" val="1086158000"/>
              </p:ext>
            </p:extLst>
          </p:nvPr>
        </p:nvGraphicFramePr>
        <p:xfrm>
          <a:off x="0" y="0"/>
          <a:ext cx="6827329" cy="6858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00039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871FD-08EF-1461-921F-D3A7BC895CF8}"/>
            </a:ext>
          </a:extLst>
        </p:cNvPr>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C414DECA-92AB-C072-2422-6C57A20CE2F0}"/>
              </a:ext>
            </a:extLst>
          </p:cNvPr>
          <p:cNvGraphicFramePr>
            <a:graphicFrameLocks noGrp="1"/>
          </p:cNvGraphicFramePr>
          <p:nvPr>
            <p:ph sz="half" idx="1"/>
            <p:extLst>
              <p:ext uri="{D42A27DB-BD31-4B8C-83A1-F6EECF244321}">
                <p14:modId xmlns:p14="http://schemas.microsoft.com/office/powerpoint/2010/main" val="2730152219"/>
              </p:ext>
            </p:extLst>
          </p:nvPr>
        </p:nvGraphicFramePr>
        <p:xfrm>
          <a:off x="0" y="2976563"/>
          <a:ext cx="6827330" cy="38814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Content Placeholder 1">
            <a:extLst>
              <a:ext uri="{FF2B5EF4-FFF2-40B4-BE49-F238E27FC236}">
                <a16:creationId xmlns:a16="http://schemas.microsoft.com/office/drawing/2014/main" id="{487D92AB-0F55-5AE1-0618-A8D8BC3C320B}"/>
              </a:ext>
            </a:extLst>
          </p:cNvPr>
          <p:cNvGraphicFramePr>
            <a:graphicFrameLocks noGrp="1"/>
          </p:cNvGraphicFramePr>
          <p:nvPr>
            <p:ph sz="half" idx="2"/>
            <p:extLst>
              <p:ext uri="{D42A27DB-BD31-4B8C-83A1-F6EECF244321}">
                <p14:modId xmlns:p14="http://schemas.microsoft.com/office/powerpoint/2010/main" val="4053999153"/>
              </p:ext>
            </p:extLst>
          </p:nvPr>
        </p:nvGraphicFramePr>
        <p:xfrm>
          <a:off x="0" y="331"/>
          <a:ext cx="6827330" cy="2976232"/>
        </p:xfrm>
        <a:graphic>
          <a:graphicData uri="http://schemas.openxmlformats.org/drawingml/2006/chart">
            <c:chart xmlns:c="http://schemas.openxmlformats.org/drawingml/2006/chart" xmlns:r="http://schemas.openxmlformats.org/officeDocument/2006/relationships" r:id="rId4"/>
          </a:graphicData>
        </a:graphic>
      </p:graphicFrame>
      <p:sp>
        <p:nvSpPr>
          <p:cNvPr id="8" name="Content Placeholder 3">
            <a:extLst>
              <a:ext uri="{FF2B5EF4-FFF2-40B4-BE49-F238E27FC236}">
                <a16:creationId xmlns:a16="http://schemas.microsoft.com/office/drawing/2014/main" id="{A044B42B-6F7B-B9B7-F2BF-994DFEE31ACB}"/>
              </a:ext>
            </a:extLst>
          </p:cNvPr>
          <p:cNvSpPr txBox="1">
            <a:spLocks/>
          </p:cNvSpPr>
          <p:nvPr/>
        </p:nvSpPr>
        <p:spPr>
          <a:xfrm>
            <a:off x="6827330" y="132081"/>
            <a:ext cx="5130990" cy="64312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ZA" dirty="0"/>
          </a:p>
        </p:txBody>
      </p:sp>
      <p:sp>
        <p:nvSpPr>
          <p:cNvPr id="9" name="Content Placeholder 3">
            <a:extLst>
              <a:ext uri="{FF2B5EF4-FFF2-40B4-BE49-F238E27FC236}">
                <a16:creationId xmlns:a16="http://schemas.microsoft.com/office/drawing/2014/main" id="{6C2BB804-7287-E721-50C5-FB81496BC80F}"/>
              </a:ext>
            </a:extLst>
          </p:cNvPr>
          <p:cNvSpPr txBox="1">
            <a:spLocks/>
          </p:cNvSpPr>
          <p:nvPr/>
        </p:nvSpPr>
        <p:spPr>
          <a:xfrm>
            <a:off x="6827330" y="-1"/>
            <a:ext cx="5364670" cy="685766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ZA" b="1" dirty="0"/>
              <a:t>Total Rural Population: 10 015 519</a:t>
            </a:r>
          </a:p>
          <a:p>
            <a:r>
              <a:rPr lang="en-ZA" b="1" dirty="0"/>
              <a:t>Total Urban Population: 14 842</a:t>
            </a:r>
          </a:p>
          <a:p>
            <a:endParaRPr lang="en-ZA" b="1" dirty="0"/>
          </a:p>
          <a:p>
            <a:r>
              <a:rPr lang="en-ZA" dirty="0"/>
              <a:t>Sub-Saharan Africa has the highest proportion of rural population where rural areas are often known for their infrastructural deficiencies especially regarding basic service provision e.g.: water access, healthcare, municipal plumbing and electricity etc. This highly negatively impacts their level of basic water access.</a:t>
            </a:r>
          </a:p>
          <a:p>
            <a:r>
              <a:rPr lang="en-ZA" dirty="0"/>
              <a:t>Efforts should primarily be directed in the rural areas namely; Sub-Saharan Africa and Latin America and Central Asia in order to equal the population’s level of access to basic water service with the urban region.</a:t>
            </a:r>
          </a:p>
          <a:p>
            <a:endParaRPr lang="en-ZA" dirty="0"/>
          </a:p>
        </p:txBody>
      </p:sp>
    </p:spTree>
    <p:extLst>
      <p:ext uri="{BB962C8B-B14F-4D97-AF65-F5344CB8AC3E}">
        <p14:creationId xmlns:p14="http://schemas.microsoft.com/office/powerpoint/2010/main" val="799833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271B1-9930-3F63-02B4-DD9451F71710}"/>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A54F59E-54F2-1D32-2E94-D2FE468969CE}"/>
              </a:ext>
            </a:extLst>
          </p:cNvPr>
          <p:cNvSpPr>
            <a:spLocks noGrp="1"/>
          </p:cNvSpPr>
          <p:nvPr>
            <p:ph sz="half" idx="2"/>
          </p:nvPr>
        </p:nvSpPr>
        <p:spPr>
          <a:xfrm>
            <a:off x="6827330" y="132081"/>
            <a:ext cx="5130990" cy="6431280"/>
          </a:xfrm>
        </p:spPr>
        <p:txBody>
          <a:bodyPr/>
          <a:lstStyle/>
          <a:p>
            <a:r>
              <a:rPr lang="en-ZA" dirty="0"/>
              <a:t>The ARC values listed here illustrate the rate of change of the share percentage of people’s access to basic water services per country per region. A higher ARC value means there have been infrastructural water developments in the region to provide access to basic services to the people.</a:t>
            </a:r>
          </a:p>
          <a:p>
            <a:endParaRPr lang="en-ZA" dirty="0"/>
          </a:p>
          <a:p>
            <a:r>
              <a:rPr lang="en-ZA" dirty="0"/>
              <a:t>Comparing the ARC value against the national population count also give a better picture on the extent and volume of developments undertaken to improve basic water access to different regions.</a:t>
            </a:r>
          </a:p>
          <a:p>
            <a:r>
              <a:rPr lang="en-ZA" dirty="0"/>
              <a:t>Sub-Saharan Africa, Middle East and North Africa and South Asia are among the most underdeveloped regions globally. The are also the most prioritised in this project hence their high ARC values comparatively.</a:t>
            </a:r>
          </a:p>
        </p:txBody>
      </p:sp>
      <p:graphicFrame>
        <p:nvGraphicFramePr>
          <p:cNvPr id="9" name="Content Placeholder 8" title="Chart">
            <a:extLst>
              <a:ext uri="{FF2B5EF4-FFF2-40B4-BE49-F238E27FC236}">
                <a16:creationId xmlns:a16="http://schemas.microsoft.com/office/drawing/2014/main" id="{A70A9892-0653-91F4-8A23-E107919481A1}"/>
              </a:ext>
            </a:extLst>
          </p:cNvPr>
          <p:cNvGraphicFramePr>
            <a:graphicFrameLocks noGrp="1"/>
          </p:cNvGraphicFramePr>
          <p:nvPr>
            <p:ph sz="half" idx="1"/>
          </p:nvPr>
        </p:nvGraphicFramePr>
        <p:xfrm>
          <a:off x="91440" y="132080"/>
          <a:ext cx="6502400" cy="67259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71069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C1D53-0DDF-6911-9B93-482A6CB43FD5}"/>
            </a:ext>
          </a:extLst>
        </p:cNvPr>
        <p:cNvGrpSpPr/>
        <p:nvPr/>
      </p:nvGrpSpPr>
      <p:grpSpPr>
        <a:xfrm>
          <a:off x="0" y="0"/>
          <a:ext cx="0" cy="0"/>
          <a:chOff x="0" y="0"/>
          <a:chExt cx="0" cy="0"/>
        </a:xfrm>
      </p:grpSpPr>
      <p:graphicFrame>
        <p:nvGraphicFramePr>
          <p:cNvPr id="5" name="Content Placeholder 4" title="Chart">
            <a:extLst>
              <a:ext uri="{FF2B5EF4-FFF2-40B4-BE49-F238E27FC236}">
                <a16:creationId xmlns:a16="http://schemas.microsoft.com/office/drawing/2014/main" id="{00000000-0008-0000-0000-000004000000}"/>
              </a:ext>
            </a:extLst>
          </p:cNvPr>
          <p:cNvGraphicFramePr>
            <a:graphicFrameLocks noGrp="1"/>
          </p:cNvGraphicFramePr>
          <p:nvPr>
            <p:ph sz="half" idx="1"/>
            <p:extLst>
              <p:ext uri="{D42A27DB-BD31-4B8C-83A1-F6EECF244321}">
                <p14:modId xmlns:p14="http://schemas.microsoft.com/office/powerpoint/2010/main" val="2737182224"/>
              </p:ext>
            </p:extLst>
          </p:nvPr>
        </p:nvGraphicFramePr>
        <p:xfrm>
          <a:off x="0" y="0"/>
          <a:ext cx="5879691" cy="6858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 name="Content Placeholder 4" title="Chart">
            <a:extLst>
              <a:ext uri="{FF2B5EF4-FFF2-40B4-BE49-F238E27FC236}">
                <a16:creationId xmlns:a16="http://schemas.microsoft.com/office/drawing/2014/main" id="{A15536DC-3C02-067F-520E-FC14CD19B690}"/>
              </a:ext>
            </a:extLst>
          </p:cNvPr>
          <p:cNvGraphicFramePr>
            <a:graphicFrameLocks noGrp="1"/>
          </p:cNvGraphicFramePr>
          <p:nvPr>
            <p:ph sz="half" idx="2"/>
            <p:extLst>
              <p:ext uri="{D42A27DB-BD31-4B8C-83A1-F6EECF244321}">
                <p14:modId xmlns:p14="http://schemas.microsoft.com/office/powerpoint/2010/main" val="3736064405"/>
              </p:ext>
            </p:extLst>
          </p:nvPr>
        </p:nvGraphicFramePr>
        <p:xfrm>
          <a:off x="5997677" y="131762"/>
          <a:ext cx="6194323" cy="672623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97400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1F2B4773-3207-44CC-B7AC-892B704982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2" name="Straight Connector 11">
              <a:extLst>
                <a:ext uri="{FF2B5EF4-FFF2-40B4-BE49-F238E27FC236}">
                  <a16:creationId xmlns:a16="http://schemas.microsoft.com/office/drawing/2014/main" id="{2B8267CA-A7A5-4E11-9D92-4EAC3DD3E8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83D61B5-C6B4-4A4B-85AD-FEE7A54912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A0B67FE4-688F-4497-8BFD-157613A69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5" name="Rectangle 25">
              <a:extLst>
                <a:ext uri="{FF2B5EF4-FFF2-40B4-BE49-F238E27FC236}">
                  <a16:creationId xmlns:a16="http://schemas.microsoft.com/office/drawing/2014/main" id="{3BF5BE1A-9BAC-4581-A82B-FD8FE3159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6" name="Isosceles Triangle 15">
              <a:extLst>
                <a:ext uri="{FF2B5EF4-FFF2-40B4-BE49-F238E27FC236}">
                  <a16:creationId xmlns:a16="http://schemas.microsoft.com/office/drawing/2014/main" id="{971E5644-6772-414A-8199-E30BFB02A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7" name="Rectangle 27">
              <a:extLst>
                <a:ext uri="{FF2B5EF4-FFF2-40B4-BE49-F238E27FC236}">
                  <a16:creationId xmlns:a16="http://schemas.microsoft.com/office/drawing/2014/main" id="{E8246D50-BB0C-408E-93FD-7B8D63A7F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8" name="Rectangle 28">
              <a:extLst>
                <a:ext uri="{FF2B5EF4-FFF2-40B4-BE49-F238E27FC236}">
                  <a16:creationId xmlns:a16="http://schemas.microsoft.com/office/drawing/2014/main" id="{AFBC5D22-68C1-44FB-8181-CB84ECAA8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9" name="Rectangle 29">
              <a:extLst>
                <a:ext uri="{FF2B5EF4-FFF2-40B4-BE49-F238E27FC236}">
                  <a16:creationId xmlns:a16="http://schemas.microsoft.com/office/drawing/2014/main" id="{FB6D0FCE-FBDB-4655-A1A7-640B1E86B5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20" name="Isosceles Triangle 19">
              <a:extLst>
                <a:ext uri="{FF2B5EF4-FFF2-40B4-BE49-F238E27FC236}">
                  <a16:creationId xmlns:a16="http://schemas.microsoft.com/office/drawing/2014/main" id="{BC8157DF-FD90-4AD6-B803-3AC0ACD8E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21" name="Isosceles Triangle 20">
              <a:extLst>
                <a:ext uri="{FF2B5EF4-FFF2-40B4-BE49-F238E27FC236}">
                  <a16:creationId xmlns:a16="http://schemas.microsoft.com/office/drawing/2014/main" id="{3548B067-9D63-4D21-92EF-CBC9E6338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grpSp>
      <p:sp useBgFill="1">
        <p:nvSpPr>
          <p:cNvPr id="23" name="Rectangle 22">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5" name="Rectangle 24">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31"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33"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35" name="Isosceles Triangle 34">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3425"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37"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39" name="Isosceles Triangle 38">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2758"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41" name="Freeform: Shape 40">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7E026DA-1319-71CF-5FA2-5F3DF9915329}"/>
              </a:ext>
            </a:extLst>
          </p:cNvPr>
          <p:cNvSpPr>
            <a:spLocks noGrp="1"/>
          </p:cNvSpPr>
          <p:nvPr>
            <p:ph type="title"/>
          </p:nvPr>
        </p:nvSpPr>
        <p:spPr>
          <a:xfrm>
            <a:off x="537689" y="-57628"/>
            <a:ext cx="4512989" cy="914400"/>
          </a:xfrm>
        </p:spPr>
        <p:txBody>
          <a:bodyPr vert="horz" lIns="91440" tIns="45720" rIns="91440" bIns="45720" rtlCol="0" anchor="ctr">
            <a:normAutofit/>
          </a:bodyPr>
          <a:lstStyle/>
          <a:p>
            <a:r>
              <a:rPr lang="en-US" dirty="0">
                <a:solidFill>
                  <a:schemeClr val="accent2"/>
                </a:solidFill>
              </a:rPr>
              <a:t>Conclusion</a:t>
            </a:r>
          </a:p>
        </p:txBody>
      </p:sp>
      <p:pic>
        <p:nvPicPr>
          <p:cNvPr id="6" name="Content Placeholder 5">
            <a:extLst>
              <a:ext uri="{FF2B5EF4-FFF2-40B4-BE49-F238E27FC236}">
                <a16:creationId xmlns:a16="http://schemas.microsoft.com/office/drawing/2014/main" id="{0D913A95-A5BA-7893-5566-65335D5A659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489917" y="1547813"/>
            <a:ext cx="4482568" cy="3647185"/>
          </a:xfrm>
          <a:prstGeom prst="rect">
            <a:avLst/>
          </a:prstGeom>
        </p:spPr>
      </p:pic>
      <p:sp>
        <p:nvSpPr>
          <p:cNvPr id="3" name="Content Placeholder 2">
            <a:extLst>
              <a:ext uri="{FF2B5EF4-FFF2-40B4-BE49-F238E27FC236}">
                <a16:creationId xmlns:a16="http://schemas.microsoft.com/office/drawing/2014/main" id="{3946344F-1D02-7284-7532-2ABAD14653B7}"/>
              </a:ext>
            </a:extLst>
          </p:cNvPr>
          <p:cNvSpPr>
            <a:spLocks noGrp="1"/>
          </p:cNvSpPr>
          <p:nvPr>
            <p:ph sz="half" idx="1"/>
          </p:nvPr>
        </p:nvSpPr>
        <p:spPr>
          <a:xfrm>
            <a:off x="216809" y="865238"/>
            <a:ext cx="6299727" cy="5587853"/>
          </a:xfrm>
        </p:spPr>
        <p:txBody>
          <a:bodyPr vert="horz" lIns="91440" tIns="45720" rIns="91440" bIns="45720" rtlCol="0" anchor="t">
            <a:normAutofit/>
          </a:bodyPr>
          <a:lstStyle/>
          <a:p>
            <a:endParaRPr lang="en-US" dirty="0">
              <a:solidFill>
                <a:srgbClr val="FFFFFF"/>
              </a:solidFill>
            </a:endParaRPr>
          </a:p>
        </p:txBody>
      </p:sp>
    </p:spTree>
    <p:extLst>
      <p:ext uri="{BB962C8B-B14F-4D97-AF65-F5344CB8AC3E}">
        <p14:creationId xmlns:p14="http://schemas.microsoft.com/office/powerpoint/2010/main" val="212612297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TM02900688[[fn=Facet]]</Template>
  <TotalTime>1034</TotalTime>
  <Words>587</Words>
  <Application>Microsoft Office PowerPoint</Application>
  <PresentationFormat>Widescreen</PresentationFormat>
  <Paragraphs>41</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Calibri</vt:lpstr>
      <vt:lpstr>Trebuchet MS</vt:lpstr>
      <vt:lpstr>Wingdings 3</vt:lpstr>
      <vt:lpstr>Facet</vt:lpstr>
      <vt:lpstr> Maji Ndogo Project: Insights Into The Data.</vt:lpstr>
      <vt:lpstr>Problem </vt:lpstr>
      <vt:lpstr>PowerPoint Presentation</vt:lpstr>
      <vt:lpstr>PowerPoint Presentation</vt:lpstr>
      <vt:lpstr>PowerPoint Presentation</vt:lpstr>
      <vt:lpstr>Raw Dataset </vt:lpstr>
      <vt:lpstr>Cleaned and Organised Data</vt:lpstr>
      <vt:lpstr>Feature Engineering </vt:lpstr>
      <vt:lpstr>PowerPoint Presentation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Silomo Kunene</dc:creator>
  <cp:lastModifiedBy>Silomo Kunene</cp:lastModifiedBy>
  <cp:revision>31</cp:revision>
  <dcterms:created xsi:type="dcterms:W3CDTF">2026-01-08T17:34:16Z</dcterms:created>
  <dcterms:modified xsi:type="dcterms:W3CDTF">2026-01-09T20:18:14Z</dcterms:modified>
</cp:coreProperties>
</file>